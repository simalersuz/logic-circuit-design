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74" r:id="rId3"/>
    <p:sldId id="279" r:id="rId4"/>
    <p:sldId id="281" r:id="rId5"/>
    <p:sldId id="276" r:id="rId6"/>
    <p:sldId id="277" r:id="rId7"/>
    <p:sldId id="280" r:id="rId8"/>
    <p:sldId id="278" r:id="rId9"/>
    <p:sldId id="270" r:id="rId10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F4618C-8025-320D-5B5A-82C327472A85}" v="2" dt="2025-11-18T11:54:10.578"/>
    <p1510:client id="{351AFE0C-1181-DB78-5B56-EF496AA33C26}" v="241" dt="2025-11-18T13:20:18.354"/>
    <p1510:client id="{3B8CDD9C-D9B8-5262-BD2D-318BF89E9C3C}" v="183" dt="2025-11-18T13:36:44.858"/>
    <p1510:client id="{80244E68-A2EA-3943-8A2A-1A6244EDB98E}" v="719" dt="2025-11-18T14:14:00.807"/>
    <p1510:client id="{E8C568C5-5579-A6AA-2733-CC7C3912599E}" v="857" dt="2025-11-18T15:28:19.15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703"/>
  </p:normalViewPr>
  <p:slideViewPr>
    <p:cSldViewPr snapToGrid="0">
      <p:cViewPr varScale="1">
        <p:scale>
          <a:sx n="126" d="100"/>
          <a:sy n="126" d="100"/>
        </p:scale>
        <p:origin x="232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41FA38-B8FA-4A6C-9A0B-C2BA2C109888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E71D3-75AC-4EE8-80AF-450C621FB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8600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8C38E-43D1-F2B4-662E-0F1E2E5D3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636155-8BC6-A22B-05B0-6AEF470BE8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6816D0-5567-8F06-87D9-917A00FB09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C34818-DC96-BC9E-1CF3-C433E784C2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EE71D3-75AC-4EE8-80AF-450C621FB67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578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EE71D3-75AC-4EE8-80AF-450C621FB67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2622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F7119-225E-4486-A8C7-05ADF2F5BE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D5D952-1ED2-4FC6-AE46-027F0AD4D6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BE1ED-0F93-43F4-8E1F-919415AB0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B473F-15D1-A640-9606-6BFBC7799F18}" type="datetime1">
              <a:rPr lang="tr-TR" smtClean="0"/>
              <a:t>19.11.2025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E01F6-CBAE-4C10-A37C-7286ED57B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/10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1D3295-DEDC-4A68-A6A8-D7B24CF47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A3166-5A1A-4BBE-9873-6F38A773DB5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8219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1F5B9-3C0A-48FC-90D5-F9F9B1AE6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985C8-2ED3-4A67-92C1-F57162D1D1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4DC17E-08D4-407E-A006-4AE1F4438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B5EE0-ADBF-6043-8F6C-1B51EF3A2430}" type="datetime1">
              <a:rPr lang="tr-TR" smtClean="0"/>
              <a:t>19.11.2025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64EAB9-D1F3-41E4-AF1F-22FA3D063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/10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AD07F1-7FF9-41F1-B2CE-A5EC22B6B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A3166-5A1A-4BBE-9873-6F38A773DB5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73474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F84CC-A62F-4B98-B772-9659C7A33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EE7008-D5AC-49F2-AED4-A59698E696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98E826-9B6D-4864-8A3F-28BA6399E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303F-6767-3F4A-8F9B-3BC61D8D8EA7}" type="datetime1">
              <a:rPr lang="tr-TR" smtClean="0"/>
              <a:t>19.11.2025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C93664-45E1-4552-B090-E480C911E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/10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AD8CC6-2F70-416E-9029-EB0C3402C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A3166-5A1A-4BBE-9873-6F38A773DB51}" type="slidenum">
              <a:rPr lang="tr-TR" smtClean="0"/>
              <a:t>‹#›</a:t>
            </a:fld>
            <a:endParaRPr lang="tr-TR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9437" y="6010275"/>
            <a:ext cx="5953125" cy="84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744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FEADE-020D-4EC7-925C-8598E6A3A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DD0EF-A760-4E09-938C-BE318582F6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8DD47E-4AB0-4C14-9896-51F98546AF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65F0D5-2D19-484E-9E6C-5E09BE9FE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31882-A357-EE4D-A6B0-508EF5E7B7B4}" type="datetime1">
              <a:rPr lang="tr-TR" smtClean="0"/>
              <a:t>19.11.2025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3418A7-4977-4A49-9E23-74447F768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/10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296077-12B0-4E71-965B-6E1CFF7AC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A3166-5A1A-4BBE-9873-6F38A773DB5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96293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D94D6-D459-48F3-BF91-1C51D87F7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455DFC-712B-46AB-8771-8F9179D6C6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AA1842-229A-4C80-945C-B49FFCEF95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F63930-D62F-4B35-A116-C8721788F9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707792-13B8-4EBE-90DB-7AD3C48030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8D7D2F-2672-42C2-A3AE-8C3062844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CFD4E-9985-2F48-AC4E-F5E516554885}" type="datetime1">
              <a:rPr lang="tr-TR" smtClean="0"/>
              <a:t>19.11.2025</a:t>
            </a:fld>
            <a:endParaRPr lang="tr-T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0219F9-7B04-4C89-8FF9-F9A9DB73A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/10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0EE5D3-F888-4A96-A412-75EEF1051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A3166-5A1A-4BBE-9873-6F38A773DB5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84326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C309D-EDB3-403E-9EA5-9FA73CF6D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31758B-7777-42C0-814F-3569AF080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CBE0-3443-4048-B2B6-2C48A5C411E3}" type="datetime1">
              <a:rPr lang="tr-TR" smtClean="0"/>
              <a:t>19.11.2025</a:t>
            </a:fld>
            <a:endParaRPr lang="tr-T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8D5F47-0112-4320-AF18-A045FF386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/10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181B72-1687-4560-9D67-52731F08A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A3166-5A1A-4BBE-9873-6F38A773DB5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33472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CBC8B2-8BFB-4D08-8EC3-DD737D52F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5AEA0-84F9-BF45-BBA7-140C2A1C790A}" type="datetime1">
              <a:rPr lang="tr-TR" smtClean="0"/>
              <a:t>19.11.2025</a:t>
            </a:fld>
            <a:endParaRPr lang="tr-T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4B74E3-356B-4671-9E83-5E532427C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/10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A0DD33-CBC0-4423-834A-DCA46CDDB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A3166-5A1A-4BBE-9873-6F38A773DB5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36384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CAFAF-F804-4A3B-B6C8-198280D79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B123C-E8E0-4344-8016-D1A3715E69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013D40-67F4-449D-A653-71CC39EDC3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5244F1-5542-414A-A62C-4F41132C4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59E1-68A1-6443-A14A-E4F16594ABFE}" type="datetime1">
              <a:rPr lang="tr-TR" smtClean="0"/>
              <a:t>19.11.2025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5DB5E9-B45B-4B96-9DE2-2C949E75A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/10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97B7F3-A2E8-4B36-9E23-A5F328949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A3166-5A1A-4BBE-9873-6F38A773DB5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04998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1DBB6-3844-44AF-A99B-B4F7B4400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C6DB88-858F-487C-8D6C-B6830F44EC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EA52BA-FBD2-48DD-B5A8-EAC2C61F8B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9A179E-6CBF-4B5E-B991-212B2A7C5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A33A9-98A3-AB41-8ECA-D51B4FCD95D8}" type="datetime1">
              <a:rPr lang="tr-TR" smtClean="0"/>
              <a:t>19.11.2025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FB6CB6-E7C6-4566-AAC2-0A9951C06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/10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4EA2AB-5101-4DBD-833A-39958E2EF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A3166-5A1A-4BBE-9873-6F38A773DB5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591781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893D4-C1A5-44CB-9451-9A1EB7485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B8BCE3-FC37-46D9-93D8-A56FB98B48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AC97DC-CA5B-45F4-AA2F-3F8776061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4A1BD-DCB4-3F42-A9D5-732D681A4ADF}" type="datetime1">
              <a:rPr lang="tr-TR" smtClean="0"/>
              <a:t>19.11.2025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EE1AAC-5C0D-4C5E-B747-492C3B0E9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/10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7895EB-652B-4494-A4B7-1E06DB969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A3166-5A1A-4BBE-9873-6F38A773DB5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83880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AE5563-AAFB-4560-8B9B-AB7B188F5E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46BF91-AD26-4366-8F17-DB1B640F65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DEAA6B-7844-4F32-89DE-E2737716E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45F0E-C9B2-F94A-A3DC-1464C89517DF}" type="datetime1">
              <a:rPr lang="tr-TR" smtClean="0"/>
              <a:t>19.11.2025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92A9E0-B9D4-48B1-B97A-73457DC3A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/10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11D48-0D7B-4244-A110-D98A3BD04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A3166-5A1A-4BBE-9873-6F38A773DB5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55082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5FD3E3-2F56-4BD8-8883-AEE5BD80F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E61A76-3B17-4D4B-AD2B-83C0B3CBE5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B7A0E8-E773-4112-90FA-6CF0110068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7763CA-8EFA-9E41-86FA-F8BFC4896F49}" type="datetime1">
              <a:rPr lang="tr-TR" smtClean="0"/>
              <a:t>19.11.2025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CAD3C1-3C94-42DC-BF6B-B487D06CB9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tr-TR"/>
              <a:t>/10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4DB282-F647-4C6B-BE62-533FFA24F9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9A3166-5A1A-4BBE-9873-6F38A773DB5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2906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6FFBC-AC9F-48D6-993B-B0DE156D4C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" y="1384829"/>
            <a:ext cx="12192000" cy="1027289"/>
          </a:xfrm>
        </p:spPr>
        <p:txBody>
          <a:bodyPr>
            <a:normAutofit/>
          </a:bodyPr>
          <a:lstStyle/>
          <a:p>
            <a:r>
              <a:rPr lang="en-US" sz="5400" b="1" noProof="1"/>
              <a:t>Combinational Logic Circuits Design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E14ABF-B72A-4E5C-A4C4-2A1B7211CB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621116"/>
            <a:ext cx="12192000" cy="1261313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sz="3200" b="1" noProof="1">
                <a:solidFill>
                  <a:srgbClr val="1D2125"/>
                </a:solidFill>
                <a:latin typeface="-apple-system"/>
              </a:rPr>
              <a:t>CMPE243-S02 </a:t>
            </a:r>
            <a:r>
              <a:rPr lang="en-US" sz="3200" b="1" noProof="1"/>
              <a:t>Logic Circuit Design</a:t>
            </a:r>
            <a:endParaRPr lang="en-US" sz="3200" b="1" noProof="1">
              <a:ea typeface="Calibri"/>
              <a:cs typeface="Calibri"/>
            </a:endParaRPr>
          </a:p>
          <a:p>
            <a:r>
              <a:rPr lang="en-US" sz="2500" b="1" noProof="1"/>
              <a:t>Midterm Project</a:t>
            </a:r>
            <a:endParaRPr lang="en-US" sz="2500" b="1" noProof="1">
              <a:ea typeface="Calibri"/>
              <a:cs typeface="Calibri"/>
            </a:endParaRPr>
          </a:p>
          <a:p>
            <a:r>
              <a:rPr lang="en-US" b="1" noProof="1"/>
              <a:t>Project Supervisor: Assoc. Prof. Dr. Nima Jafari Navimipour </a:t>
            </a:r>
            <a:endParaRPr lang="en-US" b="1" noProof="1">
              <a:ea typeface="Calibri"/>
              <a:cs typeface="Calibri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8E14ABF-B72A-4E5C-A4C4-2A1B7211CB09}"/>
              </a:ext>
            </a:extLst>
          </p:cNvPr>
          <p:cNvSpPr txBox="1">
            <a:spLocks/>
          </p:cNvSpPr>
          <p:nvPr/>
        </p:nvSpPr>
        <p:spPr>
          <a:xfrm>
            <a:off x="100483" y="4470401"/>
            <a:ext cx="4539249" cy="2387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500" b="1" u="sng" noProof="1"/>
              <a:t>Group-2</a:t>
            </a:r>
            <a:endParaRPr lang="en-US" sz="2500" b="1" u="sng" noProof="1">
              <a:ea typeface="Calibri"/>
              <a:cs typeface="Calibri"/>
            </a:endParaRPr>
          </a:p>
          <a:p>
            <a:r>
              <a:rPr lang="en-US" sz="2500" b="1" u="sng" noProof="1"/>
              <a:t>Team Members</a:t>
            </a:r>
            <a:endParaRPr lang="en-US" sz="2500" b="1" u="sng" noProof="1">
              <a:ea typeface="Calibri"/>
              <a:cs typeface="Calibri"/>
            </a:endParaRPr>
          </a:p>
          <a:p>
            <a:r>
              <a:rPr lang="en-US" sz="2500" b="1" noProof="1"/>
              <a:t>Zeynep Nisa Kaya (CMPE)</a:t>
            </a:r>
            <a:endParaRPr lang="en-US" sz="2500" b="1" noProof="1">
              <a:ea typeface="Calibri"/>
              <a:cs typeface="Calibri"/>
            </a:endParaRPr>
          </a:p>
          <a:p>
            <a:r>
              <a:rPr lang="en-US" sz="2500" b="1" noProof="1"/>
              <a:t>Sıla Kılınç (CMPE)</a:t>
            </a:r>
            <a:endParaRPr lang="en-US" sz="2500" b="1" noProof="1">
              <a:ea typeface="Calibri"/>
              <a:cs typeface="Calibri"/>
            </a:endParaRPr>
          </a:p>
          <a:p>
            <a:r>
              <a:rPr lang="en-US" sz="2500" b="1" noProof="1"/>
              <a:t>    Şimal Ersuz (CMPE)</a:t>
            </a:r>
            <a:endParaRPr lang="en-US" sz="2500" b="1" noProof="1">
              <a:ea typeface="Calibri"/>
              <a:cs typeface="Calibri"/>
            </a:endParaRPr>
          </a:p>
          <a:p>
            <a:endParaRPr lang="en-US" sz="2500" b="1" noProof="1">
              <a:ea typeface="Calibri"/>
              <a:cs typeface="Calibri"/>
            </a:endParaRPr>
          </a:p>
        </p:txBody>
      </p:sp>
      <p:pic>
        <p:nvPicPr>
          <p:cNvPr id="11" name="Picture 11" descr="metin, yazı tipi, logo, daire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984E89FC-B780-1E8B-592B-660B030F28F0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5182" y="0"/>
            <a:ext cx="1416818" cy="1416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7339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2BBA52B-3A46-41B5-BD16-F20FB520E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283462" cy="894303"/>
          </a:xfrm>
        </p:spPr>
        <p:txBody>
          <a:bodyPr>
            <a:normAutofit/>
          </a:bodyPr>
          <a:lstStyle/>
          <a:p>
            <a:r>
              <a:rPr lang="en-US" sz="5400" b="1" noProof="1"/>
              <a:t>Project Goals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EA94E8A-DEC9-4359-BB5B-69E45DE70405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337369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b="1" noProof="1">
                <a:solidFill>
                  <a:schemeClr val="tx1"/>
                </a:solidFill>
              </a:rPr>
              <a:t>Automating</a:t>
            </a:r>
            <a:r>
              <a:rPr lang="en-US" sz="3200" noProof="1">
                <a:solidFill>
                  <a:schemeClr val="tx1"/>
                </a:solidFill>
              </a:rPr>
              <a:t> the Bus ID </a:t>
            </a:r>
            <a:r>
              <a:rPr lang="en-US" noProof="1">
                <a:solidFill>
                  <a:schemeClr val="tx1"/>
                </a:solidFill>
              </a:rPr>
              <a:t>→ </a:t>
            </a:r>
            <a:r>
              <a:rPr lang="en-US" sz="3200" noProof="1">
                <a:solidFill>
                  <a:schemeClr val="tx1"/>
                </a:solidFill>
              </a:rPr>
              <a:t>Stop Code conversion</a:t>
            </a:r>
          </a:p>
          <a:p>
            <a:endParaRPr lang="en-US" sz="3200" noProof="1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noProof="1">
                <a:solidFill>
                  <a:schemeClr val="tx1"/>
                </a:solidFill>
              </a:rPr>
              <a:t>Creating </a:t>
            </a:r>
            <a:r>
              <a:rPr lang="en-US" sz="3200" b="1" noProof="1">
                <a:solidFill>
                  <a:schemeClr val="tx1"/>
                </a:solidFill>
              </a:rPr>
              <a:t>efficient design </a:t>
            </a:r>
            <a:r>
              <a:rPr lang="en-US" sz="3200" noProof="1">
                <a:solidFill>
                  <a:schemeClr val="tx1"/>
                </a:solidFill>
              </a:rPr>
              <a:t>with Boolean simplification</a:t>
            </a:r>
            <a:endParaRPr lang="en-US" sz="3200" noProof="1">
              <a:solidFill>
                <a:schemeClr val="tx1"/>
              </a:solidFill>
              <a:ea typeface="Calibri"/>
              <a:cs typeface="Calibri"/>
            </a:endParaRPr>
          </a:p>
          <a:p>
            <a:endParaRPr lang="en-US" sz="3200" noProof="1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b="1" noProof="1">
                <a:solidFill>
                  <a:schemeClr val="tx1"/>
                </a:solidFill>
              </a:rPr>
              <a:t>Validating the design </a:t>
            </a:r>
            <a:r>
              <a:rPr lang="en-US" sz="3200" noProof="1">
                <a:solidFill>
                  <a:schemeClr val="tx1"/>
                </a:solidFill>
              </a:rPr>
              <a:t>with simulation/CADET system application</a:t>
            </a:r>
            <a:endParaRPr lang="en-US" sz="3200" noProof="1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CBCF69-0CF3-EBD7-787D-8CE35B5DF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96400" y="6308849"/>
            <a:ext cx="4114800" cy="365125"/>
          </a:xfrm>
        </p:spPr>
        <p:txBody>
          <a:bodyPr/>
          <a:lstStyle/>
          <a:p>
            <a:r>
              <a:rPr lang="tr-TR" sz="2400" dirty="0"/>
              <a:t>2/9</a:t>
            </a:r>
          </a:p>
        </p:txBody>
      </p:sp>
      <p:pic>
        <p:nvPicPr>
          <p:cNvPr id="3" name="Picture 11" descr="metin, yazı tipi, logo, daire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A88917FB-E34C-7389-4914-E7179C06830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5182" y="0"/>
            <a:ext cx="1416818" cy="1416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7780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0FC32538-410B-416D-BCA4-1B5792D08393}"/>
              </a:ext>
            </a:extLst>
          </p:cNvPr>
          <p:cNvSpPr txBox="1">
            <a:spLocks/>
          </p:cNvSpPr>
          <p:nvPr/>
        </p:nvSpPr>
        <p:spPr>
          <a:xfrm>
            <a:off x="132303" y="894303"/>
            <a:ext cx="11927393" cy="52486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sz="3200" b="1" dirty="0">
                <a:solidFill>
                  <a:schemeClr val="tx1"/>
                </a:solidFill>
              </a:rPr>
              <a:t>Model</a:t>
            </a:r>
            <a:endParaRPr lang="tr-TR" b="1" dirty="0">
              <a:solidFill>
                <a:srgbClr val="000000"/>
              </a:solidFill>
              <a:ea typeface="Calibri" panose="020F0502020204030204"/>
              <a:cs typeface="Calibri" panose="020F0502020204030204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tr-TR" err="1">
                <a:solidFill>
                  <a:schemeClr val="tx1">
                    <a:lumMod val="95000"/>
                    <a:lumOff val="5000"/>
                  </a:schemeClr>
                </a:solidFill>
              </a:rPr>
              <a:t>Creating</a:t>
            </a:r>
            <a:r>
              <a:rPr lang="tr-TR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tr-TR" err="1">
                <a:solidFill>
                  <a:schemeClr val="tx1">
                    <a:lumMod val="95000"/>
                    <a:lumOff val="5000"/>
                  </a:schemeClr>
                </a:solidFill>
              </a:rPr>
              <a:t>the</a:t>
            </a:r>
            <a:r>
              <a:rPr lang="tr-TR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tr-TR" b="1" err="1">
                <a:solidFill>
                  <a:schemeClr val="tx1">
                    <a:lumMod val="95000"/>
                    <a:lumOff val="5000"/>
                  </a:schemeClr>
                </a:solidFill>
              </a:rPr>
              <a:t>truth</a:t>
            </a:r>
            <a:r>
              <a:rPr lang="tr-TR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tr-TR" b="1" err="1">
                <a:solidFill>
                  <a:schemeClr val="tx1">
                    <a:lumMod val="95000"/>
                    <a:lumOff val="5000"/>
                  </a:schemeClr>
                </a:solidFill>
              </a:rPr>
              <a:t>tables</a:t>
            </a:r>
            <a:r>
              <a:rPr lang="tr-TR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endParaRPr lang="tr-TR" b="1" dirty="0">
              <a:solidFill>
                <a:schemeClr val="tx1">
                  <a:lumMod val="95000"/>
                  <a:lumOff val="5000"/>
                </a:schemeClr>
              </a:solidFill>
              <a:ea typeface="Calibri"/>
              <a:cs typeface="Calibri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tr-TR" err="1">
                <a:solidFill>
                  <a:schemeClr val="tx1">
                    <a:lumMod val="95000"/>
                    <a:lumOff val="5000"/>
                  </a:schemeClr>
                </a:solidFill>
              </a:rPr>
              <a:t>Extracting</a:t>
            </a:r>
            <a:r>
              <a:rPr lang="tr-TR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tr-TR" err="1">
                <a:solidFill>
                  <a:schemeClr val="tx1">
                    <a:lumMod val="95000"/>
                    <a:lumOff val="5000"/>
                  </a:schemeClr>
                </a:solidFill>
              </a:rPr>
              <a:t>the</a:t>
            </a:r>
            <a:r>
              <a:rPr lang="tr-TR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tr-TR" b="1" err="1">
                <a:solidFill>
                  <a:schemeClr val="tx1">
                    <a:lumMod val="95000"/>
                    <a:lumOff val="5000"/>
                  </a:schemeClr>
                </a:solidFill>
              </a:rPr>
              <a:t>minterms</a:t>
            </a:r>
            <a:endParaRPr lang="tr-TR">
              <a:solidFill>
                <a:schemeClr val="tx1">
                  <a:lumMod val="95000"/>
                  <a:lumOff val="5000"/>
                </a:schemeClr>
              </a:solidFill>
              <a:ea typeface="Calibri" panose="020F0502020204030204"/>
              <a:cs typeface="Calibri" panose="020F0502020204030204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tr-TR" err="1">
                <a:solidFill>
                  <a:schemeClr val="tx1">
                    <a:lumMod val="95000"/>
                    <a:lumOff val="5000"/>
                  </a:schemeClr>
                </a:solidFill>
              </a:rPr>
              <a:t>Defining</a:t>
            </a:r>
            <a:r>
              <a:rPr lang="tr-TR" dirty="0">
                <a:solidFill>
                  <a:schemeClr val="tx1">
                    <a:lumMod val="95000"/>
                    <a:lumOff val="5000"/>
                  </a:schemeClr>
                </a:solidFill>
              </a:rPr>
              <a:t> 4-bit </a:t>
            </a:r>
            <a:r>
              <a:rPr lang="tr-TR" err="1">
                <a:solidFill>
                  <a:schemeClr val="tx1">
                    <a:lumMod val="95000"/>
                    <a:lumOff val="5000"/>
                  </a:schemeClr>
                </a:solidFill>
              </a:rPr>
              <a:t>input</a:t>
            </a:r>
            <a:r>
              <a:rPr lang="tr-TR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tr-TR" err="1">
                <a:solidFill>
                  <a:schemeClr val="tx1">
                    <a:lumMod val="95000"/>
                    <a:lumOff val="5000"/>
                  </a:schemeClr>
                </a:solidFill>
              </a:rPr>
              <a:t>and</a:t>
            </a:r>
            <a:r>
              <a:rPr lang="tr-TR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tr-TR" dirty="0">
                <a:solidFill>
                  <a:schemeClr val="tx1"/>
                </a:solidFill>
              </a:rPr>
              <a:t>4-bit </a:t>
            </a:r>
            <a:r>
              <a:rPr lang="tr-TR" err="1">
                <a:solidFill>
                  <a:schemeClr val="tx1"/>
                </a:solidFill>
              </a:rPr>
              <a:t>output</a:t>
            </a:r>
            <a:r>
              <a:rPr lang="tr-TR" dirty="0">
                <a:solidFill>
                  <a:schemeClr val="tx1"/>
                </a:solidFill>
              </a:rPr>
              <a:t> </a:t>
            </a:r>
            <a:r>
              <a:rPr lang="tr-TR" b="1" err="1">
                <a:solidFill>
                  <a:schemeClr val="tx1"/>
                </a:solidFill>
              </a:rPr>
              <a:t>functions</a:t>
            </a:r>
            <a:endParaRPr lang="tr-TR" b="1">
              <a:solidFill>
                <a:schemeClr val="tx1"/>
              </a:solidFill>
              <a:ea typeface="Calibri" panose="020F0502020204030204"/>
              <a:cs typeface="Calibri" panose="020F0502020204030204"/>
            </a:endParaRPr>
          </a:p>
          <a:p>
            <a:r>
              <a:rPr lang="tr-TR" sz="3200" b="1" dirty="0">
                <a:solidFill>
                  <a:schemeClr val="tx1"/>
                </a:solidFill>
              </a:rPr>
              <a:t>Design</a:t>
            </a:r>
            <a:endParaRPr lang="tr-TR" sz="3200" b="1" dirty="0">
              <a:solidFill>
                <a:schemeClr val="tx1"/>
              </a:solidFill>
              <a:ea typeface="Calibri"/>
              <a:cs typeface="Calibri"/>
            </a:endParaRPr>
          </a:p>
          <a:p>
            <a:pPr marL="457200" indent="-457200">
              <a:buChar char="•"/>
            </a:pPr>
            <a:r>
              <a:rPr lang="en-US" dirty="0">
                <a:solidFill>
                  <a:schemeClr val="tx1"/>
                </a:solidFill>
              </a:rPr>
              <a:t>Preparing</a:t>
            </a:r>
            <a:r>
              <a:rPr lang="en-US" b="1" dirty="0">
                <a:solidFill>
                  <a:schemeClr val="tx1"/>
                </a:solidFill>
              </a:rPr>
              <a:t> K-maps</a:t>
            </a:r>
            <a:r>
              <a:rPr lang="en-US" dirty="0">
                <a:solidFill>
                  <a:schemeClr val="tx1"/>
                </a:solidFill>
              </a:rPr>
              <a:t> for each output</a:t>
            </a:r>
            <a:endParaRPr lang="en-US" dirty="0">
              <a:solidFill>
                <a:schemeClr val="tx1"/>
              </a:solidFill>
              <a:ea typeface="Calibri"/>
              <a:cs typeface="Calibri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Simplifying</a:t>
            </a:r>
            <a:r>
              <a:rPr lang="en-US" dirty="0">
                <a:solidFill>
                  <a:schemeClr val="tx1"/>
                </a:solidFill>
              </a:rPr>
              <a:t> Boolean expressions by Sum of Product method</a:t>
            </a:r>
            <a:endParaRPr lang="en-US" dirty="0">
              <a:solidFill>
                <a:schemeClr val="tx1"/>
              </a:solidFill>
              <a:ea typeface="Calibri"/>
              <a:cs typeface="Calibri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Obtaining </a:t>
            </a:r>
            <a:r>
              <a:rPr lang="en-US" b="1" dirty="0">
                <a:solidFill>
                  <a:schemeClr val="tx1"/>
                </a:solidFill>
              </a:rPr>
              <a:t>minimal equations </a:t>
            </a:r>
            <a:r>
              <a:rPr lang="en-US" dirty="0">
                <a:solidFill>
                  <a:schemeClr val="tx1"/>
                </a:solidFill>
              </a:rPr>
              <a:t>for Y</a:t>
            </a:r>
            <a:r>
              <a:rPr lang="en-US" baseline="-25000" dirty="0">
                <a:solidFill>
                  <a:schemeClr val="tx1"/>
                </a:solidFill>
              </a:rPr>
              <a:t>3</a:t>
            </a:r>
            <a:r>
              <a:rPr lang="en-US" dirty="0">
                <a:solidFill>
                  <a:schemeClr val="tx1"/>
                </a:solidFill>
              </a:rPr>
              <a:t>–Y</a:t>
            </a:r>
            <a:r>
              <a:rPr lang="en-US" baseline="-25000" dirty="0">
                <a:solidFill>
                  <a:schemeClr val="tx1"/>
                </a:solidFill>
              </a:rPr>
              <a:t>0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5182" y="0"/>
            <a:ext cx="1416818" cy="1416818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42BBA52B-3A46-41B5-BD16-F20FB520E252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283462" cy="8943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5400" b="1"/>
              <a:t>Design &amp; Implementation</a:t>
            </a:r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40A0B7D9-AA7D-CDA2-6F51-C7B6C3A1D56F}"/>
              </a:ext>
            </a:extLst>
          </p:cNvPr>
          <p:cNvSpPr txBox="1">
            <a:spLocks/>
          </p:cNvSpPr>
          <p:nvPr/>
        </p:nvSpPr>
        <p:spPr>
          <a:xfrm>
            <a:off x="9296400" y="6308849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tr-T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sz="2400" dirty="0"/>
              <a:t>3/9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EDF4C3C-DB41-FF29-D5EB-C7AE49E2D5CC}"/>
              </a:ext>
            </a:extLst>
          </p:cNvPr>
          <p:cNvSpPr txBox="1">
            <a:spLocks/>
          </p:cNvSpPr>
          <p:nvPr/>
        </p:nvSpPr>
        <p:spPr>
          <a:xfrm>
            <a:off x="155569" y="4729018"/>
            <a:ext cx="11330105" cy="315664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b="1" noProof="1">
                <a:solidFill>
                  <a:schemeClr val="tx1"/>
                </a:solidFill>
                <a:ea typeface="Calibri"/>
                <a:cs typeface="Calibri"/>
              </a:rPr>
              <a:t>Implementation</a:t>
            </a:r>
            <a:endParaRPr lang="tr-TR" sz="3200" b="1">
              <a:solidFill>
                <a:schemeClr val="tx1"/>
              </a:solidFill>
              <a:ea typeface="Calibri"/>
              <a:cs typeface="Calibri"/>
            </a:endParaRPr>
          </a:p>
          <a:p>
            <a:pPr marL="457200" indent="-457200">
              <a:buChar char="•"/>
            </a:pPr>
            <a:r>
              <a:rPr lang="en-US" noProof="1">
                <a:solidFill>
                  <a:schemeClr val="tx1"/>
                </a:solidFill>
                <a:ea typeface="Calibri"/>
                <a:cs typeface="Calibri"/>
              </a:rPr>
              <a:t>Testing the simplified equations </a:t>
            </a:r>
            <a:r>
              <a:rPr lang="en-US" b="1" noProof="1">
                <a:solidFill>
                  <a:schemeClr val="tx1"/>
                </a:solidFill>
                <a:ea typeface="Calibri"/>
                <a:cs typeface="Calibri"/>
              </a:rPr>
              <a:t>in Simulink</a:t>
            </a:r>
            <a:endParaRPr lang="en-US" noProof="1">
              <a:solidFill>
                <a:schemeClr val="tx1"/>
              </a:solidFill>
              <a:ea typeface="Calibri"/>
              <a:cs typeface="Calibri"/>
            </a:endParaRPr>
          </a:p>
          <a:p>
            <a:pPr marL="457200" indent="-457200">
              <a:buChar char="•"/>
            </a:pPr>
            <a:r>
              <a:rPr lang="en-US" noProof="1">
                <a:solidFill>
                  <a:schemeClr val="tx1"/>
                </a:solidFill>
                <a:ea typeface="Calibri"/>
                <a:cs typeface="Calibri"/>
              </a:rPr>
              <a:t>Building the circuit </a:t>
            </a:r>
            <a:r>
              <a:rPr lang="en-US" b="1" noProof="1">
                <a:solidFill>
                  <a:schemeClr val="tx1"/>
                </a:solidFill>
                <a:ea typeface="Calibri"/>
                <a:cs typeface="Calibri"/>
              </a:rPr>
              <a:t>on CADET </a:t>
            </a:r>
            <a:r>
              <a:rPr lang="en-US" noProof="1">
                <a:solidFill>
                  <a:schemeClr val="tx1"/>
                </a:solidFill>
                <a:ea typeface="Calibri"/>
                <a:cs typeface="Calibri"/>
              </a:rPr>
              <a:t>with </a:t>
            </a:r>
            <a:r>
              <a:rPr lang="en-US" b="1" noProof="1">
                <a:solidFill>
                  <a:schemeClr val="tx1"/>
                </a:solidFill>
                <a:ea typeface="Calibri"/>
                <a:cs typeface="Calibri"/>
              </a:rPr>
              <a:t>7404</a:t>
            </a:r>
            <a:r>
              <a:rPr lang="en-US" noProof="1">
                <a:solidFill>
                  <a:schemeClr val="tx1"/>
                </a:solidFill>
                <a:ea typeface="Calibri"/>
                <a:cs typeface="Calibri"/>
              </a:rPr>
              <a:t> (NOT), </a:t>
            </a:r>
            <a:r>
              <a:rPr lang="en-US" b="1" noProof="1">
                <a:solidFill>
                  <a:schemeClr val="tx1"/>
                </a:solidFill>
                <a:ea typeface="Calibri"/>
                <a:cs typeface="Calibri"/>
              </a:rPr>
              <a:t>7408</a:t>
            </a:r>
            <a:r>
              <a:rPr lang="en-US" noProof="1">
                <a:solidFill>
                  <a:schemeClr val="tx1"/>
                </a:solidFill>
                <a:ea typeface="Calibri"/>
                <a:cs typeface="Calibri"/>
              </a:rPr>
              <a:t> (AND), </a:t>
            </a:r>
            <a:r>
              <a:rPr lang="en-US" b="1" noProof="1">
                <a:solidFill>
                  <a:schemeClr val="tx1"/>
                </a:solidFill>
                <a:ea typeface="Calibri"/>
                <a:cs typeface="Calibri"/>
              </a:rPr>
              <a:t>7432</a:t>
            </a:r>
            <a:r>
              <a:rPr lang="en-US" noProof="1">
                <a:solidFill>
                  <a:schemeClr val="tx1"/>
                </a:solidFill>
                <a:ea typeface="Calibri"/>
                <a:cs typeface="Calibri"/>
              </a:rPr>
              <a:t> (OR) Ics</a:t>
            </a:r>
            <a:endParaRPr lang="en-US" dirty="0">
              <a:solidFill>
                <a:schemeClr val="tx1"/>
              </a:solidFill>
              <a:ea typeface="Calibri"/>
              <a:cs typeface="Calibri"/>
            </a:endParaRPr>
          </a:p>
          <a:p>
            <a:pPr marL="457200" indent="-457200">
              <a:buChar char="•"/>
            </a:pPr>
            <a:r>
              <a:rPr lang="en-US" dirty="0">
                <a:solidFill>
                  <a:schemeClr val="tx1"/>
                </a:solidFill>
                <a:ea typeface="Calibri"/>
                <a:cs typeface="Calibri"/>
              </a:rPr>
              <a:t>Observing Y</a:t>
            </a:r>
            <a:r>
              <a:rPr lang="en-US" baseline="-25000" dirty="0">
                <a:solidFill>
                  <a:schemeClr val="tx1"/>
                </a:solidFill>
                <a:ea typeface="Calibri"/>
                <a:cs typeface="Calibri"/>
              </a:rPr>
              <a:t>0</a:t>
            </a:r>
            <a:r>
              <a:rPr lang="en-US" dirty="0">
                <a:solidFill>
                  <a:schemeClr val="tx1"/>
                </a:solidFill>
                <a:ea typeface="Calibri"/>
                <a:cs typeface="Calibri"/>
              </a:rPr>
              <a:t>–Y</a:t>
            </a:r>
            <a:r>
              <a:rPr lang="en-US" baseline="-25000" dirty="0">
                <a:solidFill>
                  <a:schemeClr val="tx1"/>
                </a:solidFill>
                <a:ea typeface="Calibri"/>
                <a:cs typeface="Calibri"/>
              </a:rPr>
              <a:t>3</a:t>
            </a:r>
            <a:r>
              <a:rPr lang="en-US" dirty="0">
                <a:solidFill>
                  <a:schemeClr val="tx1"/>
                </a:solidFill>
                <a:ea typeface="Calibri"/>
                <a:cs typeface="Calibri"/>
              </a:rPr>
              <a:t> outputs with </a:t>
            </a:r>
            <a:r>
              <a:rPr lang="en-US" b="1" dirty="0">
                <a:solidFill>
                  <a:schemeClr val="tx1"/>
                </a:solidFill>
                <a:ea typeface="Calibri"/>
                <a:cs typeface="Calibri"/>
              </a:rPr>
              <a:t>LEDs</a:t>
            </a:r>
            <a:r>
              <a:rPr lang="en-US" dirty="0">
                <a:solidFill>
                  <a:schemeClr val="tx1"/>
                </a:solidFill>
                <a:ea typeface="Calibri"/>
                <a:cs typeface="Calibri"/>
              </a:rPr>
              <a:t> </a:t>
            </a:r>
            <a:endParaRPr lang="en-US">
              <a:solidFill>
                <a:schemeClr val="tx1"/>
              </a:solidFill>
              <a:ea typeface="Calibri"/>
              <a:cs typeface="Calibri"/>
            </a:endParaRPr>
          </a:p>
          <a:p>
            <a:endParaRPr lang="en-US" noProof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7413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B320D-EAF0-A2E1-38EF-93E2E9DCE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5E1A9D6E-A7FA-F726-8B4D-9CF55DA07955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5182" y="0"/>
            <a:ext cx="1416818" cy="1416818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DECE8FF5-A9BC-FB68-036D-69FD06A3039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283462" cy="8943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5400" b="1"/>
              <a:t>Design &amp; Implementation</a:t>
            </a:r>
          </a:p>
        </p:txBody>
      </p:sp>
      <p:pic>
        <p:nvPicPr>
          <p:cNvPr id="3" name="Picture 2" descr="A close-up of a circuit board&#10;&#10;AI-generated content may be incorrect.">
            <a:extLst>
              <a:ext uri="{FF2B5EF4-FFF2-40B4-BE49-F238E27FC236}">
                <a16:creationId xmlns:a16="http://schemas.microsoft.com/office/drawing/2014/main" id="{48525A5F-7C65-BEC3-71A8-65A6262EC99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87" t="380" r="14907" b="-380"/>
          <a:stretch>
            <a:fillRect/>
          </a:stretch>
        </p:blipFill>
        <p:spPr>
          <a:xfrm>
            <a:off x="613465" y="1673818"/>
            <a:ext cx="5114441" cy="4077576"/>
          </a:xfrm>
          <a:prstGeom prst="rect">
            <a:avLst/>
          </a:prstGeom>
        </p:spPr>
      </p:pic>
      <p:pic>
        <p:nvPicPr>
          <p:cNvPr id="5" name="Picture 4" descr="A close-up of a circuit board&#10;&#10;AI-generated content may be incorrect.">
            <a:extLst>
              <a:ext uri="{FF2B5EF4-FFF2-40B4-BE49-F238E27FC236}">
                <a16:creationId xmlns:a16="http://schemas.microsoft.com/office/drawing/2014/main" id="{A8D49193-83B3-CA8E-10EA-1B3A9A055FE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65"/>
          <a:stretch>
            <a:fillRect/>
          </a:stretch>
        </p:blipFill>
        <p:spPr>
          <a:xfrm>
            <a:off x="6230319" y="1673818"/>
            <a:ext cx="5348216" cy="4077576"/>
          </a:xfrm>
          <a:prstGeom prst="rect">
            <a:avLst/>
          </a:prstGeom>
        </p:spPr>
      </p:pic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32E842E-9D70-843F-3842-DBB5994CA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96400" y="6308849"/>
            <a:ext cx="4114800" cy="365125"/>
          </a:xfrm>
        </p:spPr>
        <p:txBody>
          <a:bodyPr/>
          <a:lstStyle/>
          <a:p>
            <a:r>
              <a:rPr lang="tr-TR" sz="2400" dirty="0"/>
              <a:t>4/9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C95604D-5864-668F-2B53-3212FF086B86}"/>
              </a:ext>
            </a:extLst>
          </p:cNvPr>
          <p:cNvSpPr txBox="1"/>
          <p:nvPr/>
        </p:nvSpPr>
        <p:spPr>
          <a:xfrm>
            <a:off x="796871" y="5751394"/>
            <a:ext cx="47476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TR" sz="2400" b="1"/>
              <a:t>Figure-1</a:t>
            </a:r>
            <a:r>
              <a:rPr lang="en-TR" sz="2400"/>
              <a:t> </a:t>
            </a:r>
            <a:r>
              <a:rPr lang="en-US" sz="2400"/>
              <a:t>CADET system application</a:t>
            </a:r>
            <a:endParaRPr lang="en-TR" sz="24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F9F48CF-E2C9-754D-B34E-943F19F11D76}"/>
              </a:ext>
            </a:extLst>
          </p:cNvPr>
          <p:cNvSpPr txBox="1"/>
          <p:nvPr/>
        </p:nvSpPr>
        <p:spPr>
          <a:xfrm>
            <a:off x="6606173" y="5755525"/>
            <a:ext cx="47476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TR" sz="2400" b="1"/>
              <a:t>Figure-2 </a:t>
            </a:r>
            <a:r>
              <a:rPr lang="en-US" sz="2400"/>
              <a:t>CADET system application</a:t>
            </a:r>
            <a:endParaRPr lang="en-TR" sz="2400"/>
          </a:p>
        </p:txBody>
      </p:sp>
    </p:spTree>
    <p:extLst>
      <p:ext uri="{BB962C8B-B14F-4D97-AF65-F5344CB8AC3E}">
        <p14:creationId xmlns:p14="http://schemas.microsoft.com/office/powerpoint/2010/main" val="25392870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2BBA52B-3A46-41B5-BD16-F20FB520E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283462" cy="894303"/>
          </a:xfrm>
        </p:spPr>
        <p:txBody>
          <a:bodyPr>
            <a:normAutofit/>
          </a:bodyPr>
          <a:lstStyle/>
          <a:p>
            <a:r>
              <a:rPr lang="en-US" sz="5400" b="1" noProof="1"/>
              <a:t>Key Points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EA94E8A-DEC9-4359-BB5B-69E45DE70405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noProof="1">
                <a:solidFill>
                  <a:schemeClr val="tx1"/>
                </a:solidFill>
              </a:rPr>
              <a:t>Simulink–CADET results are </a:t>
            </a:r>
            <a:r>
              <a:rPr lang="en-US" sz="3200" b="1" noProof="1">
                <a:solidFill>
                  <a:schemeClr val="tx1"/>
                </a:solidFill>
              </a:rPr>
              <a:t>fully compatible</a:t>
            </a:r>
          </a:p>
          <a:p>
            <a:endParaRPr lang="en-US" sz="3200" noProof="1">
              <a:solidFill>
                <a:schemeClr val="tx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noProof="1">
                <a:solidFill>
                  <a:schemeClr val="tx1"/>
                </a:solidFill>
              </a:rPr>
              <a:t>Creating an efficient circuit that operates with </a:t>
            </a:r>
            <a:r>
              <a:rPr lang="en-US" sz="3200" b="1" noProof="1">
                <a:solidFill>
                  <a:schemeClr val="tx1"/>
                </a:solidFill>
              </a:rPr>
              <a:t>minimal gate count</a:t>
            </a:r>
            <a:endParaRPr lang="en-US" sz="3200" b="1" noProof="1">
              <a:solidFill>
                <a:schemeClr val="tx1"/>
              </a:solidFill>
              <a:ea typeface="Calibri"/>
              <a:cs typeface="Calibri"/>
            </a:endParaRPr>
          </a:p>
          <a:p>
            <a:endParaRPr lang="en-US" sz="3200" b="1" noProof="1">
              <a:solidFill>
                <a:schemeClr val="tx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noProof="1">
                <a:solidFill>
                  <a:schemeClr val="tx1"/>
                </a:solidFill>
              </a:rPr>
              <a:t>Generating </a:t>
            </a:r>
            <a:r>
              <a:rPr lang="en-US" sz="3200" b="1" noProof="1">
                <a:solidFill>
                  <a:schemeClr val="tx1"/>
                </a:solidFill>
              </a:rPr>
              <a:t>correct stop codes </a:t>
            </a:r>
            <a:r>
              <a:rPr lang="en-US" sz="3200" noProof="1">
                <a:solidFill>
                  <a:schemeClr val="tx1"/>
                </a:solidFill>
              </a:rPr>
              <a:t>for all 16 input combinations</a:t>
            </a:r>
            <a:endParaRPr lang="en-US" sz="3200" noProof="1">
              <a:solidFill>
                <a:schemeClr val="tx1"/>
              </a:solidFill>
              <a:ea typeface="Calibri"/>
              <a:cs typeface="Calibri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5182" y="0"/>
            <a:ext cx="1416818" cy="1416818"/>
          </a:xfrm>
          <a:prstGeom prst="rect">
            <a:avLst/>
          </a:prstGeom>
        </p:spPr>
      </p:pic>
      <p:sp>
        <p:nvSpPr>
          <p:cNvPr id="9" name="Footer Placeholder 7">
            <a:extLst>
              <a:ext uri="{FF2B5EF4-FFF2-40B4-BE49-F238E27FC236}">
                <a16:creationId xmlns:a16="http://schemas.microsoft.com/office/drawing/2014/main" id="{ADC47DA3-11D3-EF5F-49D5-19B8CFB42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96400" y="6308849"/>
            <a:ext cx="4114800" cy="365125"/>
          </a:xfrm>
        </p:spPr>
        <p:txBody>
          <a:bodyPr/>
          <a:lstStyle/>
          <a:p>
            <a:r>
              <a:rPr lang="tr-TR" sz="2400" dirty="0"/>
              <a:t>5/9</a:t>
            </a:r>
          </a:p>
        </p:txBody>
      </p:sp>
    </p:spTree>
    <p:extLst>
      <p:ext uri="{BB962C8B-B14F-4D97-AF65-F5344CB8AC3E}">
        <p14:creationId xmlns:p14="http://schemas.microsoft.com/office/powerpoint/2010/main" val="38543258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2BBA52B-3A46-41B5-BD16-F20FB520E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283462" cy="894303"/>
          </a:xfrm>
        </p:spPr>
        <p:txBody>
          <a:bodyPr>
            <a:normAutofit/>
          </a:bodyPr>
          <a:lstStyle/>
          <a:p>
            <a:r>
              <a:rPr lang="en-US" sz="5400" b="1" noProof="1"/>
              <a:t>Main Findings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EA94E8A-DEC9-4359-BB5B-69E45DE70405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b="1" noProof="1">
                <a:solidFill>
                  <a:schemeClr val="tx1"/>
                </a:solidFill>
                <a:ea typeface="Calibri"/>
                <a:cs typeface="Calibri"/>
              </a:rPr>
              <a:t>K-Map simplification </a:t>
            </a:r>
            <a:r>
              <a:rPr lang="en-US" sz="3200" noProof="1">
                <a:solidFill>
                  <a:schemeClr val="tx1"/>
                </a:solidFill>
                <a:ea typeface="Calibri"/>
                <a:cs typeface="Calibri"/>
              </a:rPr>
              <a:t>reducing the number of gates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3200" noProof="1">
              <a:solidFill>
                <a:schemeClr val="tx1"/>
              </a:solidFill>
              <a:ea typeface="Calibri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noProof="1">
                <a:solidFill>
                  <a:schemeClr val="tx1"/>
                </a:solidFill>
              </a:rPr>
              <a:t> </a:t>
            </a:r>
            <a:r>
              <a:rPr lang="en-US" sz="3200" b="1" noProof="1">
                <a:solidFill>
                  <a:schemeClr val="tx1"/>
                </a:solidFill>
              </a:rPr>
              <a:t>LED outputs </a:t>
            </a:r>
            <a:r>
              <a:rPr lang="en-US" sz="3200" noProof="1">
                <a:solidFill>
                  <a:schemeClr val="tx1"/>
                </a:solidFill>
              </a:rPr>
              <a:t>in the CADET system matching the </a:t>
            </a:r>
            <a:r>
              <a:rPr lang="en-US" sz="3200" b="1" noProof="1">
                <a:solidFill>
                  <a:schemeClr val="tx1"/>
                </a:solidFill>
              </a:rPr>
              <a:t>stop-codes</a:t>
            </a:r>
            <a:endParaRPr lang="en-US" sz="3200" b="1" noProof="1">
              <a:solidFill>
                <a:schemeClr val="tx1"/>
              </a:solidFill>
              <a:ea typeface="Calibri"/>
              <a:cs typeface="Calibri"/>
            </a:endParaRPr>
          </a:p>
          <a:p>
            <a:endParaRPr lang="en-US" sz="3200" noProof="1">
              <a:solidFill>
                <a:schemeClr val="tx1"/>
              </a:solidFill>
              <a:ea typeface="Calibri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noProof="1">
                <a:solidFill>
                  <a:schemeClr val="tx1"/>
                </a:solidFill>
                <a:ea typeface="Calibri"/>
                <a:cs typeface="Calibri"/>
              </a:rPr>
              <a:t>The correct </a:t>
            </a:r>
            <a:r>
              <a:rPr lang="en-US" sz="3200" b="1" noProof="1">
                <a:solidFill>
                  <a:schemeClr val="tx1"/>
                </a:solidFill>
                <a:ea typeface="Calibri"/>
                <a:cs typeface="Calibri"/>
              </a:rPr>
              <a:t>Boolean functions (Y₃–Y₀) </a:t>
            </a:r>
            <a:r>
              <a:rPr lang="en-US" sz="3200" noProof="1">
                <a:solidFill>
                  <a:schemeClr val="tx1"/>
                </a:solidFill>
                <a:ea typeface="Calibri"/>
                <a:cs typeface="Calibri"/>
              </a:rPr>
              <a:t>were obtained using K-map analysis and simplification.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noProof="1">
              <a:solidFill>
                <a:srgbClr val="898989"/>
              </a:solidFill>
              <a:ea typeface="Calibri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noProof="1">
              <a:solidFill>
                <a:schemeClr val="tx1"/>
              </a:solidFill>
              <a:ea typeface="Calibri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noProof="1">
              <a:solidFill>
                <a:schemeClr val="tx1"/>
              </a:solidFill>
              <a:ea typeface="Calibri"/>
              <a:cs typeface="Calibri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5182" y="0"/>
            <a:ext cx="1416818" cy="1416818"/>
          </a:xfrm>
          <a:prstGeom prst="rect">
            <a:avLst/>
          </a:prstGeom>
        </p:spPr>
      </p:pic>
      <p:sp>
        <p:nvSpPr>
          <p:cNvPr id="9" name="Footer Placeholder 7">
            <a:extLst>
              <a:ext uri="{FF2B5EF4-FFF2-40B4-BE49-F238E27FC236}">
                <a16:creationId xmlns:a16="http://schemas.microsoft.com/office/drawing/2014/main" id="{EA7DB464-FF9A-FE6F-73AE-E1214DB65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96400" y="6308849"/>
            <a:ext cx="4114800" cy="365125"/>
          </a:xfrm>
        </p:spPr>
        <p:txBody>
          <a:bodyPr/>
          <a:lstStyle/>
          <a:p>
            <a:r>
              <a:rPr lang="tr-TR" sz="2400" dirty="0"/>
              <a:t>6/9</a:t>
            </a:r>
          </a:p>
        </p:txBody>
      </p:sp>
    </p:spTree>
    <p:extLst>
      <p:ext uri="{BB962C8B-B14F-4D97-AF65-F5344CB8AC3E}">
        <p14:creationId xmlns:p14="http://schemas.microsoft.com/office/powerpoint/2010/main" val="26473279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FE97E-5091-9D9A-4F2A-E9044AA25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1575F201-C1F4-D2CC-7382-079223656360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5182" y="0"/>
            <a:ext cx="1416818" cy="1416818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D93C95C3-CDBC-1C66-6D5D-6399B51F7D7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283462" cy="8943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5400" b="1"/>
              <a:t>Main </a:t>
            </a:r>
            <a:r>
              <a:rPr lang="tr-TR" sz="5400" b="1" err="1"/>
              <a:t>Findings</a:t>
            </a:r>
            <a:endParaRPr lang="tr-TR" sz="5400" b="1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AE1F129-B948-0B31-F825-BFE5283D16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3696772"/>
              </p:ext>
            </p:extLst>
          </p:nvPr>
        </p:nvGraphicFramePr>
        <p:xfrm>
          <a:off x="7667645" y="1854885"/>
          <a:ext cx="3794622" cy="324441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63954">
                  <a:extLst>
                    <a:ext uri="{9D8B030D-6E8A-4147-A177-3AD203B41FA5}">
                      <a16:colId xmlns:a16="http://schemas.microsoft.com/office/drawing/2014/main" val="1699897432"/>
                    </a:ext>
                  </a:extLst>
                </a:gridCol>
                <a:gridCol w="757667">
                  <a:extLst>
                    <a:ext uri="{9D8B030D-6E8A-4147-A177-3AD203B41FA5}">
                      <a16:colId xmlns:a16="http://schemas.microsoft.com/office/drawing/2014/main" val="2958910417"/>
                    </a:ext>
                  </a:extLst>
                </a:gridCol>
                <a:gridCol w="757667">
                  <a:extLst>
                    <a:ext uri="{9D8B030D-6E8A-4147-A177-3AD203B41FA5}">
                      <a16:colId xmlns:a16="http://schemas.microsoft.com/office/drawing/2014/main" val="2491072259"/>
                    </a:ext>
                  </a:extLst>
                </a:gridCol>
                <a:gridCol w="757667">
                  <a:extLst>
                    <a:ext uri="{9D8B030D-6E8A-4147-A177-3AD203B41FA5}">
                      <a16:colId xmlns:a16="http://schemas.microsoft.com/office/drawing/2014/main" val="2457833331"/>
                    </a:ext>
                  </a:extLst>
                </a:gridCol>
                <a:gridCol w="757667">
                  <a:extLst>
                    <a:ext uri="{9D8B030D-6E8A-4147-A177-3AD203B41FA5}">
                      <a16:colId xmlns:a16="http://schemas.microsoft.com/office/drawing/2014/main" val="2806319385"/>
                    </a:ext>
                  </a:extLst>
                </a:gridCol>
              </a:tblGrid>
              <a:tr h="679063"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S</a:t>
                      </a:r>
                      <a:r>
                        <a:rPr lang="en-US" sz="1200" kern="100" baseline="-25000">
                          <a:effectLst/>
                        </a:rPr>
                        <a:t>1</a:t>
                      </a:r>
                      <a:r>
                        <a:rPr lang="en-US" sz="1200" kern="100">
                          <a:effectLst/>
                        </a:rPr>
                        <a:t>S</a:t>
                      </a:r>
                      <a:r>
                        <a:rPr lang="en-US" sz="1200" kern="100" baseline="-25000">
                          <a:effectLst/>
                        </a:rPr>
                        <a:t>0</a:t>
                      </a:r>
                      <a:endParaRPr lang="en-TR" sz="1200" kern="100">
                        <a:effectLst/>
                      </a:endParaRP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S</a:t>
                      </a:r>
                      <a:r>
                        <a:rPr lang="en-US" sz="1200" kern="100" baseline="-25000">
                          <a:effectLst/>
                        </a:rPr>
                        <a:t>3</a:t>
                      </a:r>
                      <a:r>
                        <a:rPr lang="en-US" sz="1200" kern="100">
                          <a:effectLst/>
                        </a:rPr>
                        <a:t>S</a:t>
                      </a:r>
                      <a:r>
                        <a:rPr lang="en-US" sz="1200" kern="100" baseline="-25000">
                          <a:effectLst/>
                        </a:rPr>
                        <a:t>2 </a:t>
                      </a:r>
                      <a:r>
                        <a:rPr lang="en-US" sz="1200" kern="100">
                          <a:effectLst/>
                        </a:rPr>
                        <a:t> </a:t>
                      </a:r>
                      <a:endParaRPr lang="en-TR" sz="12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en-TR" sz="1200" kern="100">
                        <a:effectLst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00</a:t>
                      </a:r>
                      <a:endParaRPr lang="en-TR" sz="12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en-TR" sz="1200" kern="100">
                        <a:effectLst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01</a:t>
                      </a:r>
                      <a:endParaRPr lang="en-TR" sz="12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en-TR" sz="1200" kern="100">
                        <a:effectLst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11</a:t>
                      </a:r>
                      <a:endParaRPr lang="en-TR" sz="12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en-TR" sz="1200" kern="100">
                        <a:effectLst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10</a:t>
                      </a:r>
                      <a:endParaRPr lang="en-TR" sz="12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46765561"/>
                  </a:ext>
                </a:extLst>
              </a:tr>
              <a:tr h="64133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en-TR" sz="1200" kern="100">
                        <a:effectLst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00</a:t>
                      </a:r>
                      <a:endParaRPr lang="en-TR" sz="12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en-TR" sz="1200" kern="100">
                        <a:effectLst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0</a:t>
                      </a:r>
                      <a:endParaRPr lang="en-TR" sz="12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en-TR" sz="1200" kern="100">
                        <a:effectLst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0</a:t>
                      </a:r>
                      <a:endParaRPr lang="en-TR" sz="12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en-TR" sz="1200" kern="100">
                        <a:effectLst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0</a:t>
                      </a:r>
                      <a:endParaRPr lang="en-TR" sz="12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en-TR" sz="1200" kern="100">
                        <a:effectLst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0</a:t>
                      </a:r>
                      <a:endParaRPr lang="en-TR" sz="12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58473152"/>
                  </a:ext>
                </a:extLst>
              </a:tr>
              <a:tr h="64133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en-TR" sz="1200" kern="100">
                        <a:effectLst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01</a:t>
                      </a:r>
                      <a:endParaRPr lang="en-TR" sz="12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en-TR" sz="1200" kern="100">
                        <a:effectLst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1</a:t>
                      </a:r>
                      <a:endParaRPr lang="en-TR" sz="12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en-TR" sz="1200" kern="100">
                        <a:effectLst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1</a:t>
                      </a:r>
                      <a:endParaRPr lang="en-TR" sz="12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en-TR" sz="1200" kern="100">
                        <a:effectLst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1</a:t>
                      </a:r>
                      <a:endParaRPr lang="en-TR" sz="12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en-TR" sz="1200" kern="100">
                        <a:effectLst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1</a:t>
                      </a:r>
                      <a:endParaRPr lang="en-TR" sz="12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76043035"/>
                  </a:ext>
                </a:extLst>
              </a:tr>
              <a:tr h="64133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en-TR" sz="1200" kern="100">
                        <a:effectLst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11</a:t>
                      </a:r>
                      <a:endParaRPr lang="en-TR" sz="12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en-TR" sz="1200" kern="100">
                        <a:effectLst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1</a:t>
                      </a:r>
                      <a:endParaRPr lang="en-TR" sz="12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en-TR" sz="1200" kern="100">
                        <a:effectLst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1</a:t>
                      </a:r>
                      <a:endParaRPr lang="en-TR" sz="12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en-TR" sz="1200" kern="100">
                        <a:effectLst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1</a:t>
                      </a:r>
                      <a:endParaRPr lang="en-TR" sz="12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en-TR" sz="1200" kern="100">
                        <a:effectLst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1</a:t>
                      </a:r>
                      <a:endParaRPr lang="en-TR" sz="12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67110326"/>
                  </a:ext>
                </a:extLst>
              </a:tr>
              <a:tr h="64133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en-TR" sz="1200" kern="100">
                        <a:effectLst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10</a:t>
                      </a:r>
                      <a:endParaRPr lang="en-TR" sz="12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en-TR" sz="1200" kern="100">
                        <a:effectLst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1</a:t>
                      </a:r>
                      <a:endParaRPr lang="en-TR" sz="12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en-TR" sz="1200" kern="100">
                        <a:effectLst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1</a:t>
                      </a:r>
                      <a:endParaRPr lang="en-TR" sz="12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en-TR" sz="1200" kern="100">
                        <a:effectLst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1</a:t>
                      </a:r>
                      <a:endParaRPr lang="en-TR" sz="12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en-TR" sz="1200" kern="100">
                        <a:effectLst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1</a:t>
                      </a:r>
                      <a:endParaRPr lang="en-TR" sz="12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18098060"/>
                  </a:ext>
                </a:extLst>
              </a:tr>
            </a:tbl>
          </a:graphicData>
        </a:graphic>
      </p:graphicFrame>
      <p:sp>
        <p:nvSpPr>
          <p:cNvPr id="9" name="Footer Placeholder 7">
            <a:extLst>
              <a:ext uri="{FF2B5EF4-FFF2-40B4-BE49-F238E27FC236}">
                <a16:creationId xmlns:a16="http://schemas.microsoft.com/office/drawing/2014/main" id="{113830F4-8827-C468-89B4-0C3A53332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96400" y="6308849"/>
            <a:ext cx="4114800" cy="365125"/>
          </a:xfrm>
        </p:spPr>
        <p:txBody>
          <a:bodyPr/>
          <a:lstStyle/>
          <a:p>
            <a:r>
              <a:rPr lang="tr-TR" sz="2400" dirty="0"/>
              <a:t>7/9</a:t>
            </a:r>
          </a:p>
        </p:txBody>
      </p:sp>
      <p:pic>
        <p:nvPicPr>
          <p:cNvPr id="4" name="Picture 3" descr="A diagram of a block diagram&#10;&#10;AI-generated content may be incorrect.">
            <a:extLst>
              <a:ext uri="{FF2B5EF4-FFF2-40B4-BE49-F238E27FC236}">
                <a16:creationId xmlns:a16="http://schemas.microsoft.com/office/drawing/2014/main" id="{12FE91EB-C899-5768-AA89-236EFDA8B2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" y="1051356"/>
            <a:ext cx="7665598" cy="485147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74BC365-2D32-281F-A8D4-F2F9EE15179E}"/>
              </a:ext>
            </a:extLst>
          </p:cNvPr>
          <p:cNvSpPr txBox="1"/>
          <p:nvPr/>
        </p:nvSpPr>
        <p:spPr>
          <a:xfrm>
            <a:off x="1461032" y="5598218"/>
            <a:ext cx="47476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TR" sz="2400" b="1"/>
              <a:t>Figure-3</a:t>
            </a:r>
            <a:r>
              <a:rPr lang="en-TR" sz="2400"/>
              <a:t> </a:t>
            </a:r>
            <a:r>
              <a:rPr lang="en-US" sz="2400"/>
              <a:t>Overall Simulink Model</a:t>
            </a:r>
            <a:r>
              <a:rPr lang="en-TR" sz="2400"/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5DAEFB1-0AFA-C0E7-7B78-FA7F1E0A7CC8}"/>
              </a:ext>
            </a:extLst>
          </p:cNvPr>
          <p:cNvSpPr txBox="1"/>
          <p:nvPr/>
        </p:nvSpPr>
        <p:spPr>
          <a:xfrm>
            <a:off x="7667645" y="1343038"/>
            <a:ext cx="37946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TR" sz="2400" b="1"/>
              <a:t>Table-1</a:t>
            </a:r>
            <a:r>
              <a:rPr lang="en-TR" sz="2400"/>
              <a:t> </a:t>
            </a:r>
            <a:r>
              <a:rPr lang="tr-TR" sz="2400"/>
              <a:t>K-</a:t>
            </a:r>
            <a:r>
              <a:rPr lang="tr-TR" sz="2400" err="1"/>
              <a:t>Map</a:t>
            </a:r>
            <a:r>
              <a:rPr lang="tr-TR" sz="2400"/>
              <a:t> of </a:t>
            </a:r>
            <a:r>
              <a:rPr lang="tr-TR" sz="2400" err="1"/>
              <a:t>output</a:t>
            </a:r>
            <a:r>
              <a:rPr lang="tr-TR" sz="2400"/>
              <a:t> Y</a:t>
            </a:r>
            <a:r>
              <a:rPr lang="tr-TR" sz="2400" baseline="-25000"/>
              <a:t>3</a:t>
            </a:r>
            <a:endParaRPr lang="en-TR" sz="2400"/>
          </a:p>
        </p:txBody>
      </p:sp>
    </p:spTree>
    <p:extLst>
      <p:ext uri="{BB962C8B-B14F-4D97-AF65-F5344CB8AC3E}">
        <p14:creationId xmlns:p14="http://schemas.microsoft.com/office/powerpoint/2010/main" val="13649755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2BBA52B-3A46-41B5-BD16-F20FB520E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283462" cy="894303"/>
          </a:xfrm>
        </p:spPr>
        <p:txBody>
          <a:bodyPr>
            <a:normAutofit/>
          </a:bodyPr>
          <a:lstStyle/>
          <a:p>
            <a:r>
              <a:rPr lang="en-US" sz="5400" b="1" noProof="1"/>
              <a:t>Conclusion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EA94E8A-DEC9-4359-BB5B-69E45DE70405}"/>
              </a:ext>
            </a:extLst>
          </p:cNvPr>
          <p:cNvSpPr txBox="1">
            <a:spLocks/>
          </p:cNvSpPr>
          <p:nvPr/>
        </p:nvSpPr>
        <p:spPr>
          <a:xfrm>
            <a:off x="235871" y="976889"/>
            <a:ext cx="10540304" cy="490637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Char char="•"/>
            </a:pPr>
            <a:endParaRPr lang="en-US" noProof="1">
              <a:solidFill>
                <a:srgbClr val="000000"/>
              </a:solidFill>
              <a:ea typeface="Calibri" panose="020F0502020204030204"/>
              <a:cs typeface="Calibri" panose="020F0502020204030204"/>
            </a:endParaRPr>
          </a:p>
          <a:p>
            <a:pPr marL="342900" indent="-342900">
              <a:buChar char="•"/>
            </a:pPr>
            <a:r>
              <a:rPr lang="en-US" noProof="1">
                <a:solidFill>
                  <a:schemeClr val="tx1"/>
                </a:solidFill>
              </a:rPr>
              <a:t>Gate numbers was </a:t>
            </a:r>
            <a:r>
              <a:rPr lang="en-US" b="1" noProof="1">
                <a:solidFill>
                  <a:schemeClr val="tx1"/>
                </a:solidFill>
              </a:rPr>
              <a:t>decreased</a:t>
            </a:r>
            <a:r>
              <a:rPr lang="en-US" noProof="1">
                <a:solidFill>
                  <a:schemeClr val="tx1"/>
                </a:solidFill>
              </a:rPr>
              <a:t> achieved through K-map simplification </a:t>
            </a:r>
            <a:endParaRPr lang="en-US" noProof="1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noProof="1">
                <a:solidFill>
                  <a:schemeClr val="tx1"/>
                </a:solidFill>
              </a:rPr>
              <a:t>     (1 AND, 1 NOT, 2 OR)</a:t>
            </a:r>
            <a:endParaRPr lang="en-US" noProof="1">
              <a:solidFill>
                <a:schemeClr val="tx1"/>
              </a:solidFill>
              <a:ea typeface="Calibri"/>
              <a:cs typeface="Calibri"/>
            </a:endParaRPr>
          </a:p>
          <a:p>
            <a:pPr marL="342900" indent="-342900">
              <a:buChar char="•"/>
            </a:pPr>
            <a:endParaRPr lang="en-US" noProof="1">
              <a:solidFill>
                <a:schemeClr val="tx1"/>
              </a:solidFill>
              <a:ea typeface="Calibri"/>
              <a:cs typeface="Calibri"/>
            </a:endParaRPr>
          </a:p>
          <a:p>
            <a:pPr marL="342900" indent="-342900">
              <a:buChar char="•"/>
            </a:pPr>
            <a:r>
              <a:rPr lang="en-US" noProof="1">
                <a:solidFill>
                  <a:schemeClr val="tx1"/>
                </a:solidFill>
                <a:ea typeface="Calibri"/>
                <a:cs typeface="Calibri"/>
              </a:rPr>
              <a:t>Full functional compatibility between the Simulink model and the CADET application has been </a:t>
            </a:r>
            <a:r>
              <a:rPr lang="en-US" b="1" noProof="1">
                <a:solidFill>
                  <a:schemeClr val="tx1"/>
                </a:solidFill>
                <a:ea typeface="Calibri"/>
                <a:cs typeface="Calibri"/>
              </a:rPr>
              <a:t>verified</a:t>
            </a:r>
            <a:r>
              <a:rPr lang="en-US" noProof="1">
                <a:solidFill>
                  <a:schemeClr val="tx1"/>
                </a:solidFill>
                <a:ea typeface="Calibri"/>
                <a:cs typeface="Calibri"/>
              </a:rPr>
              <a:t>.</a:t>
            </a:r>
          </a:p>
          <a:p>
            <a:pPr marL="342900" indent="-342900">
              <a:buChar char="•"/>
            </a:pPr>
            <a:endParaRPr lang="en-US" noProof="1">
              <a:solidFill>
                <a:schemeClr val="tx1"/>
              </a:solidFill>
              <a:ea typeface="Calibri"/>
              <a:cs typeface="Calibri"/>
            </a:endParaRPr>
          </a:p>
          <a:p>
            <a:pPr marL="342900" indent="-342900">
              <a:buChar char="•"/>
            </a:pPr>
            <a:r>
              <a:rPr lang="en-US" noProof="1">
                <a:solidFill>
                  <a:schemeClr val="tx1"/>
                </a:solidFill>
              </a:rPr>
              <a:t>The design provides a basic module that can be integrated into </a:t>
            </a:r>
            <a:r>
              <a:rPr lang="en-US" b="1" noProof="1">
                <a:solidFill>
                  <a:schemeClr val="tx1"/>
                </a:solidFill>
              </a:rPr>
              <a:t>larger routing systems.</a:t>
            </a:r>
            <a:endParaRPr lang="en-US" b="1" noProof="1">
              <a:solidFill>
                <a:schemeClr val="tx1"/>
              </a:solidFill>
              <a:ea typeface="Calibri" panose="020F0502020204030204"/>
              <a:cs typeface="Calibri" panose="020F0502020204030204"/>
            </a:endParaRPr>
          </a:p>
          <a:p>
            <a:pPr marL="342900" indent="-342900">
              <a:buChar char="•"/>
            </a:pPr>
            <a:endParaRPr lang="en-US" noProof="1">
              <a:solidFill>
                <a:schemeClr val="tx1"/>
              </a:solidFill>
              <a:ea typeface="Calibri" panose="020F0502020204030204"/>
              <a:cs typeface="Calibri" panose="020F0502020204030204"/>
            </a:endParaRPr>
          </a:p>
          <a:p>
            <a:pPr marL="342900" indent="-342900">
              <a:buChar char="•"/>
            </a:pPr>
            <a:r>
              <a:rPr lang="en-US" noProof="1">
                <a:solidFill>
                  <a:schemeClr val="tx1"/>
                </a:solidFill>
                <a:ea typeface="Calibri" panose="020F0502020204030204"/>
                <a:cs typeface="Calibri" panose="020F0502020204030204"/>
              </a:rPr>
              <a:t>The circuit achieved its planned function </a:t>
            </a:r>
            <a:r>
              <a:rPr lang="en-US" b="1" noProof="1">
                <a:solidFill>
                  <a:schemeClr val="tx1"/>
                </a:solidFill>
                <a:ea typeface="Calibri" panose="020F0502020204030204"/>
                <a:cs typeface="Calibri" panose="020F0502020204030204"/>
              </a:rPr>
              <a:t>quickly, decisively, and reliably</a:t>
            </a:r>
            <a:r>
              <a:rPr lang="en-US" noProof="1">
                <a:solidFill>
                  <a:schemeClr val="tx1"/>
                </a:solidFill>
                <a:ea typeface="Calibri" panose="020F0502020204030204"/>
                <a:cs typeface="Calibri" panose="020F0502020204030204"/>
              </a:rPr>
              <a:t>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5182" y="0"/>
            <a:ext cx="1416818" cy="1416818"/>
          </a:xfrm>
          <a:prstGeom prst="rect">
            <a:avLst/>
          </a:prstGeom>
        </p:spPr>
      </p:pic>
      <p:sp>
        <p:nvSpPr>
          <p:cNvPr id="9" name="Footer Placeholder 7">
            <a:extLst>
              <a:ext uri="{FF2B5EF4-FFF2-40B4-BE49-F238E27FC236}">
                <a16:creationId xmlns:a16="http://schemas.microsoft.com/office/drawing/2014/main" id="{CC387485-D0E0-17DF-9C60-3EB84F3BF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96400" y="6308849"/>
            <a:ext cx="4114800" cy="365125"/>
          </a:xfrm>
        </p:spPr>
        <p:txBody>
          <a:bodyPr/>
          <a:lstStyle/>
          <a:p>
            <a:r>
              <a:rPr lang="tr-TR" sz="2400" dirty="0"/>
              <a:t>8/9</a:t>
            </a:r>
          </a:p>
        </p:txBody>
      </p:sp>
    </p:spTree>
    <p:extLst>
      <p:ext uri="{BB962C8B-B14F-4D97-AF65-F5344CB8AC3E}">
        <p14:creationId xmlns:p14="http://schemas.microsoft.com/office/powerpoint/2010/main" val="39281503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2D9BD-3DB4-4A1A-A7E4-BF71A4BE2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5400" b="1" err="1"/>
              <a:t>References</a:t>
            </a:r>
            <a:endParaRPr lang="en-US" sz="5400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32E1BC-76AF-4709-80B9-7ADEE2D16D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42925" indent="-542925">
              <a:buNone/>
            </a:pPr>
            <a:r>
              <a:rPr lang="tr-TR"/>
              <a:t>[1]	</a:t>
            </a:r>
            <a:r>
              <a:rPr lang="en-US"/>
              <a:t>M. M. Mano and M. D. Ciletti, </a:t>
            </a:r>
            <a:r>
              <a:rPr lang="en-US" i="1"/>
              <a:t>Digital Design</a:t>
            </a:r>
            <a:r>
              <a:rPr lang="en-US"/>
              <a:t>, 4th ed. Upper Saddle River, NJ: Pearson Prentice Hall, 2007.</a:t>
            </a:r>
            <a:endParaRPr lang="tr-TR"/>
          </a:p>
          <a:p>
            <a:pPr marL="542925" indent="-542925">
              <a:buNone/>
            </a:pPr>
            <a:r>
              <a:rPr lang="tr-TR"/>
              <a:t>[2]  </a:t>
            </a:r>
            <a:r>
              <a:rPr lang="en-US"/>
              <a:t>C. H. Roth, Jr., L. L. Kinney, and E. B. John, </a:t>
            </a:r>
            <a:r>
              <a:rPr lang="en-US" i="1"/>
              <a:t>Fundamentals of Logic Design</a:t>
            </a:r>
            <a:r>
              <a:rPr lang="en-US"/>
              <a:t>, 7th ed. Cengage Learning, 2021. </a:t>
            </a:r>
            <a:endParaRPr lang="en-TR"/>
          </a:p>
          <a:p>
            <a:pPr marL="542925" indent="-542925">
              <a:buNone/>
            </a:pPr>
            <a:endParaRPr lang="tr-TR"/>
          </a:p>
          <a:p>
            <a:pPr marL="542925" indent="-542925">
              <a:buNone/>
            </a:pPr>
            <a:endParaRPr lang="tr-TR"/>
          </a:p>
          <a:p>
            <a:pPr marL="542925" indent="-542925">
              <a:buNone/>
            </a:pPr>
            <a:endParaRPr lang="tr-TR"/>
          </a:p>
          <a:p>
            <a:pPr marL="0" indent="0">
              <a:buNone/>
            </a:pPr>
            <a:endParaRPr lang="tr-TR"/>
          </a:p>
          <a:p>
            <a:endParaRPr lang="tr-T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F56C0E-785B-7332-1DAF-6A7E2951D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96400" y="6308849"/>
            <a:ext cx="4114800" cy="365125"/>
          </a:xfrm>
        </p:spPr>
        <p:txBody>
          <a:bodyPr/>
          <a:lstStyle/>
          <a:p>
            <a:r>
              <a:rPr lang="tr-TR" sz="2400" dirty="0"/>
              <a:t>9/9</a:t>
            </a:r>
          </a:p>
        </p:txBody>
      </p:sp>
    </p:spTree>
    <p:extLst>
      <p:ext uri="{BB962C8B-B14F-4D97-AF65-F5344CB8AC3E}">
        <p14:creationId xmlns:p14="http://schemas.microsoft.com/office/powerpoint/2010/main" val="27655447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25555</TotalTime>
  <Words>422</Words>
  <Application>Microsoft Macintosh PowerPoint</Application>
  <PresentationFormat>Geniş ekran</PresentationFormat>
  <Paragraphs>123</Paragraphs>
  <Slides>9</Slides>
  <Notes>2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9</vt:i4>
      </vt:variant>
    </vt:vector>
  </HeadingPairs>
  <TitlesOfParts>
    <vt:vector size="14" baseType="lpstr">
      <vt:lpstr>-apple-system</vt:lpstr>
      <vt:lpstr>Arial</vt:lpstr>
      <vt:lpstr>Calibri</vt:lpstr>
      <vt:lpstr>Calibri Light</vt:lpstr>
      <vt:lpstr>Office Theme</vt:lpstr>
      <vt:lpstr>Combinational Logic Circuits Design</vt:lpstr>
      <vt:lpstr>Project Goals</vt:lpstr>
      <vt:lpstr>PowerPoint Sunusu</vt:lpstr>
      <vt:lpstr>PowerPoint Sunusu</vt:lpstr>
      <vt:lpstr>Key Points</vt:lpstr>
      <vt:lpstr>Main Findings</vt:lpstr>
      <vt:lpstr>PowerPoint Sunusu</vt:lpstr>
      <vt:lpstr>Conclusion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Company Bankrupcy Classification</dc:title>
  <dc:creator>arsan@khas.edu.tr</dc:creator>
  <cp:lastModifiedBy>Şimal Ersuz</cp:lastModifiedBy>
  <cp:revision>527</cp:revision>
  <dcterms:created xsi:type="dcterms:W3CDTF">2019-05-26T13:34:01Z</dcterms:created>
  <dcterms:modified xsi:type="dcterms:W3CDTF">2025-12-07T11:52:36Z</dcterms:modified>
</cp:coreProperties>
</file>