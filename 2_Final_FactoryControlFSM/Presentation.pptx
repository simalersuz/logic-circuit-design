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74" r:id="rId3"/>
    <p:sldId id="275" r:id="rId4"/>
    <p:sldId id="279" r:id="rId5"/>
    <p:sldId id="276" r:id="rId6"/>
    <p:sldId id="280" r:id="rId7"/>
    <p:sldId id="277" r:id="rId8"/>
    <p:sldId id="282" r:id="rId9"/>
    <p:sldId id="283" r:id="rId10"/>
    <p:sldId id="278" r:id="rId11"/>
    <p:sldId id="270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32051F-2AF3-3F4B-83F5-6445CD3B7341}" v="347" dt="2026-01-07T16:54:10.935"/>
    <p1510:client id="{66AB5BF6-D019-0AE9-FD77-CF4476DF42F8}" v="79" dt="2026-01-07T13:40:47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83"/>
    <p:restoredTop sz="94625"/>
  </p:normalViewPr>
  <p:slideViewPr>
    <p:cSldViewPr snapToGrid="0">
      <p:cViewPr varScale="1">
        <p:scale>
          <a:sx n="88" d="100"/>
          <a:sy n="88" d="100"/>
        </p:scale>
        <p:origin x="21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1FA38-B8FA-4A6C-9A0B-C2BA2C109888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E71D3-75AC-4EE8-80AF-450C621F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6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F7119-225E-4486-A8C7-05ADF2F5B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5D952-1ED2-4FC6-AE46-027F0AD4D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BE1ED-0F93-43F4-8E1F-919415AB0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1BA3E-138D-BD41-9C03-6249FB799E49}" type="datetime1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E01F6-CBAE-4C10-A37C-7286ED57B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D3295-DEDC-4A68-A6A8-D7B24CF4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21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1F5B9-3C0A-48FC-90D5-F9F9B1AE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985C8-2ED3-4A67-92C1-F57162D1D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DC17E-08D4-407E-A006-4AE1F4438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FE7D-4773-C24E-9062-6B96149C93FF}" type="datetime1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4EAB9-D1F3-41E4-AF1F-22FA3D06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D07F1-7FF9-41F1-B2CE-A5EC22B6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3474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84CC-A62F-4B98-B772-9659C7A33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E7008-D5AC-49F2-AED4-A59698E69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8E826-9B6D-4864-8A3F-28BA6399E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AA026-91BA-0441-9371-268EECD18F44}" type="datetime1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93664-45E1-4552-B090-E480C911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D8CC6-2F70-416E-9029-EB0C3402C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437" y="6010275"/>
            <a:ext cx="595312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EADE-020D-4EC7-925C-8598E6A3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D0EF-A760-4E09-938C-BE318582F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DD47E-4AB0-4C14-9896-51F98546A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5F0D5-2D19-484E-9E6C-5E09BE9F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A8151-69AD-5949-ABB8-722A4E9DF7FD}" type="datetime1">
              <a:rPr lang="tr-TR" smtClean="0"/>
              <a:t>7.01.2026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418A7-4977-4A49-9E23-74447F76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96077-12B0-4E71-965B-6E1CFF7A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629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94D6-D459-48F3-BF91-1C51D87F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55DFC-712B-46AB-8771-8F9179D6C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A1842-229A-4C80-945C-B49FFCEF9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63930-D62F-4B35-A116-C8721788F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707792-13B8-4EBE-90DB-7AD3C4803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8D7D2F-2672-42C2-A3AE-8C3062844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85988-BBE1-9E40-8031-E534D33B3C8E}" type="datetime1">
              <a:rPr lang="tr-TR" smtClean="0"/>
              <a:t>7.01.2026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219F9-7B04-4C89-8FF9-F9A9DB73A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EE5D3-F888-4A96-A412-75EEF105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4326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309D-EDB3-403E-9EA5-9FA73CF6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31758B-7777-42C0-814F-3569AF08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B576-7A95-AE49-A56E-47A4C0EEAB13}" type="datetime1">
              <a:rPr lang="tr-TR" smtClean="0"/>
              <a:t>7.01.2026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D5F47-0112-4320-AF18-A045FF38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81B72-1687-4560-9D67-52731F08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3472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BC8B2-8BFB-4D08-8EC3-DD737D52F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62A1-5F5F-C044-9724-6D05C55124C1}" type="datetime1">
              <a:rPr lang="tr-TR" smtClean="0"/>
              <a:t>7.01.2026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B74E3-356B-4671-9E83-5E532427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0DD33-CBC0-4423-834A-DCA46CDD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6384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AFAF-F804-4A3B-B6C8-198280D7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B123C-E8E0-4344-8016-D1A3715E6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13D40-67F4-449D-A653-71CC39EDC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244F1-5542-414A-A62C-4F41132C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4226-72D3-0241-BD02-146ACA02166B}" type="datetime1">
              <a:rPr lang="tr-TR" smtClean="0"/>
              <a:t>7.01.2026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DB5E9-B45B-4B96-9DE2-2C949E75A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7B7F3-A2E8-4B36-9E23-A5F32894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4998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DBB6-3844-44AF-A99B-B4F7B440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6DB88-858F-487C-8D6C-B6830F44EC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A52BA-FBD2-48DD-B5A8-EAC2C61F8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A179E-6CBF-4B5E-B991-212B2A7C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F529-3DFA-534C-B5AE-37BCEC351735}" type="datetime1">
              <a:rPr lang="tr-TR" smtClean="0"/>
              <a:t>7.01.2026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B6CB6-E7C6-4566-AAC2-0A9951C0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EA2AB-5101-4DBD-833A-39958E2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917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93D4-C1A5-44CB-9451-9A1EB748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8BCE3-FC37-46D9-93D8-A56FB98B4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C97DC-CA5B-45F4-AA2F-3F877606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1C1F-D03C-0945-BD27-226DCDBDAEBF}" type="datetime1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E1AAC-5C0D-4C5E-B747-492C3B0E9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895EB-652B-4494-A4B7-1E06DB969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3880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AE5563-AAFB-4560-8B9B-AB7B188F5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6BF91-AD26-4366-8F17-DB1B640F6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EAA6B-7844-4F32-89DE-E2737716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0BCD0-7DBB-214E-ADDC-CC553BE318C2}" type="datetime1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2A9E0-B9D4-48B1-B97A-73457DC3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11D48-0D7B-4244-A110-D98A3BD0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508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FD3E3-2F56-4BD8-8883-AEE5BD80F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61A76-3B17-4D4B-AD2B-83C0B3CBE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7A0E8-E773-4112-90FA-6CF011006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6FB8E-3DBF-384E-9D48-2B7D36589737}" type="datetime1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AD3C1-3C94-42DC-BF6B-B487D06CB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DB282-F647-4C6B-BE62-533FFA24F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906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6FFBC-AC9F-48D6-993B-B0DE156D4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2594" y="1950490"/>
            <a:ext cx="8469215" cy="1027289"/>
          </a:xfrm>
        </p:spPr>
        <p:txBody>
          <a:bodyPr>
            <a:noAutofit/>
          </a:bodyPr>
          <a:lstStyle/>
          <a:p>
            <a:r>
              <a:rPr lang="en-US" sz="5000" b="1" noProof="1"/>
              <a:t>Finite State Machine-Based Factory Production Control</a:t>
            </a:r>
            <a:r>
              <a:rPr lang="en-US" sz="5000" noProof="1"/>
              <a:t> </a:t>
            </a:r>
            <a:endParaRPr lang="en-US" sz="5000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14ABF-B72A-4E5C-A4C4-2A1B7211C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230155"/>
            <a:ext cx="12192000" cy="1261313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noProof="1">
                <a:solidFill>
                  <a:srgbClr val="1D2125"/>
                </a:solidFill>
                <a:latin typeface="-apple-system"/>
              </a:rPr>
              <a:t>CMPE243-S02 </a:t>
            </a:r>
            <a:r>
              <a:rPr lang="en-US" sz="3200" b="1" noProof="1"/>
              <a:t>Logic Circuit Design</a:t>
            </a:r>
          </a:p>
          <a:p>
            <a:r>
              <a:rPr lang="en-US" b="1" noProof="1"/>
              <a:t>Final Project</a:t>
            </a:r>
          </a:p>
          <a:p>
            <a:r>
              <a:rPr lang="en-US" sz="2000" b="1" noProof="1"/>
              <a:t>Project Supervisor: </a:t>
            </a:r>
            <a:r>
              <a:rPr lang="en-US" sz="2000" noProof="1"/>
              <a:t>Dr. Fatih Genç</a:t>
            </a:r>
            <a:endParaRPr lang="en-US" sz="2000" b="1" noProof="1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E14ABF-B72A-4E5C-A4C4-2A1B7211CB09}"/>
              </a:ext>
            </a:extLst>
          </p:cNvPr>
          <p:cNvSpPr txBox="1">
            <a:spLocks/>
          </p:cNvSpPr>
          <p:nvPr/>
        </p:nvSpPr>
        <p:spPr>
          <a:xfrm>
            <a:off x="100483" y="4470401"/>
            <a:ext cx="4539249" cy="238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noProof="1"/>
              <a:t>CMPE243-FTP2 </a:t>
            </a:r>
          </a:p>
          <a:p>
            <a:r>
              <a:rPr lang="en-US" b="1" u="sng" noProof="1"/>
              <a:t>Team Members</a:t>
            </a:r>
          </a:p>
          <a:p>
            <a:r>
              <a:rPr lang="en-US" b="1" noProof="1"/>
              <a:t>Zeynep Nisa Kaya (CMPE)</a:t>
            </a:r>
          </a:p>
          <a:p>
            <a:r>
              <a:rPr lang="en-US" b="1" noProof="1"/>
              <a:t>Şimal Ersuz (CMPE)</a:t>
            </a:r>
          </a:p>
          <a:p>
            <a:r>
              <a:rPr lang="en-US" b="1" noProof="1"/>
              <a:t>Zeynep Bayraktar (CMPE)</a:t>
            </a:r>
          </a:p>
        </p:txBody>
      </p:sp>
      <p:pic>
        <p:nvPicPr>
          <p:cNvPr id="6" name="Picture 5" descr="IMG_8897.jpg">
            <a:extLst>
              <a:ext uri="{FF2B5EF4-FFF2-40B4-BE49-F238E27FC236}">
                <a16:creationId xmlns:a16="http://schemas.microsoft.com/office/drawing/2014/main" id="{A6A3E334-E223-FC90-C70D-0A331E1AA3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782" r="18400" b="20404"/>
          <a:stretch/>
        </p:blipFill>
        <p:spPr>
          <a:xfrm>
            <a:off x="0" y="0"/>
            <a:ext cx="1749778" cy="1609299"/>
          </a:xfrm>
          <a:prstGeom prst="rect">
            <a:avLst/>
          </a:prstGeom>
        </p:spPr>
      </p:pic>
      <p:pic>
        <p:nvPicPr>
          <p:cNvPr id="7" name="Resim 6" descr="yazı tipi, logo, grafik, mark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9A29C5E-AACF-9A31-70DA-9796389A3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709" y="204490"/>
            <a:ext cx="4086795" cy="120031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04567-29E3-5138-B421-392C3969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en-US" noProof="1" smtClean="0"/>
              <a:t>1</a:t>
            </a:fld>
            <a:r>
              <a:rPr lang="en-US" noProof="1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75373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BBA52B-3A46-41B5-BD16-F20FB520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69" y="261257"/>
            <a:ext cx="11283462" cy="894303"/>
          </a:xfrm>
        </p:spPr>
        <p:txBody>
          <a:bodyPr>
            <a:normAutofit/>
          </a:bodyPr>
          <a:lstStyle/>
          <a:p>
            <a:r>
              <a:rPr lang="en-US" sz="5400" b="1" noProof="1"/>
              <a:t>Project Goals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A94E8A-DEC9-4359-BB5B-69E45DE7040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373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1" noProof="1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E49033-5F29-7DC3-313A-EEF52589E7CF}"/>
              </a:ext>
            </a:extLst>
          </p:cNvPr>
          <p:cNvSpPr txBox="1">
            <a:spLocks/>
          </p:cNvSpPr>
          <p:nvPr/>
        </p:nvSpPr>
        <p:spPr>
          <a:xfrm>
            <a:off x="596565" y="2574992"/>
            <a:ext cx="11927393" cy="5248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noProof="1">
              <a:solidFill>
                <a:schemeClr val="tx1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D20FDCE-34FE-240C-1CEC-250271819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02" y="1465759"/>
            <a:ext cx="10650838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noProof="1">
                <a:latin typeface="Arial" panose="020B0604020202020204" pitchFamily="34" charset="0"/>
              </a:rPr>
              <a:t> Designing a FSM (Finite State Machine) for Product-2.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noProof="1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noProof="1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noProof="1">
                <a:latin typeface="Arial" panose="020B0604020202020204" pitchFamily="34" charset="0"/>
              </a:rPr>
              <a:t> D-type Flip-Flops are used for the sequence. 	(M1→M5→M3→M6→M7)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800" noProof="1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800" noProof="1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noProof="1">
                <a:latin typeface="Arial" panose="020B0604020202020204" pitchFamily="34" charset="0"/>
              </a:rPr>
              <a:t> Verifying the design by implementing in MATLAB/Simulink.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noProof="1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noProof="1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6E7594-29CC-DD23-AC24-E9FB0F229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en-US" noProof="1" smtClean="0"/>
              <a:t>2</a:t>
            </a:fld>
            <a:r>
              <a:rPr lang="en-US" noProof="1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927778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FC32538-410B-416D-BCA4-1B5792D08393}"/>
              </a:ext>
            </a:extLst>
          </p:cNvPr>
          <p:cNvSpPr txBox="1">
            <a:spLocks/>
          </p:cNvSpPr>
          <p:nvPr/>
        </p:nvSpPr>
        <p:spPr>
          <a:xfrm>
            <a:off x="132303" y="970286"/>
            <a:ext cx="11927393" cy="524865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noProof="1">
                <a:solidFill>
                  <a:schemeClr val="tx1"/>
                </a:solidFill>
              </a:rPr>
              <a:t>Overview of the Basic Methodology</a:t>
            </a:r>
          </a:p>
          <a:p>
            <a:r>
              <a:rPr lang="en-US" sz="2800" b="1" noProof="1">
                <a:solidFill>
                  <a:schemeClr val="tx1"/>
                </a:solidFill>
              </a:rPr>
              <a:t>Model:</a:t>
            </a:r>
            <a:endParaRPr lang="en-US" sz="2800" b="1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The system is modeled as a </a:t>
            </a:r>
            <a:r>
              <a:rPr lang="en-US" sz="2800" b="1" noProof="1">
                <a:solidFill>
                  <a:schemeClr val="tx1"/>
                </a:solidFill>
              </a:rPr>
              <a:t>Mealy Finite State Machine (FSM).</a:t>
            </a:r>
            <a:endParaRPr lang="en-US" sz="2800" noProof="1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Outputs depend on current state and input signals </a:t>
            </a:r>
            <a:endParaRPr lang="en-US" sz="2800" noProof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2800" b="1" noProof="1">
                <a:solidFill>
                  <a:schemeClr val="tx1"/>
                </a:solidFill>
              </a:rPr>
              <a:t>Design:</a:t>
            </a:r>
            <a:endParaRPr lang="en-US" sz="2800" b="1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States are defined according to the machine order of Product-2</a:t>
            </a:r>
            <a:endParaRPr lang="en-US" sz="2800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State transitions are determined by the input DONE signals</a:t>
            </a:r>
            <a:endParaRPr lang="en-US" sz="2800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States stored using binary system</a:t>
            </a:r>
            <a:endParaRPr lang="en-US" sz="2800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D flip-flops used to store state information</a:t>
            </a:r>
            <a:endParaRPr lang="en-US" sz="2800" noProof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2800" b="1" noProof="1">
                <a:solidFill>
                  <a:schemeClr val="tx1"/>
                </a:solidFill>
              </a:rPr>
              <a:t>Implementation:</a:t>
            </a:r>
            <a:endParaRPr lang="en-US" sz="2800" b="1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Design implemented and checked in MATLAB/Simulink</a:t>
            </a:r>
            <a:endParaRPr lang="en-US" sz="2800" noProof="1">
              <a:solidFill>
                <a:schemeClr val="tx1"/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noProof="1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2BBA52B-3A46-41B5-BD16-F20FB520E2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noProof="1"/>
              <a:t>Design &amp; Implementation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3B4DA-1756-E118-2B5C-495FEF06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en-US" noProof="1" smtClean="0"/>
              <a:t>3</a:t>
            </a:fld>
            <a:r>
              <a:rPr lang="en-US" noProof="1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15634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DBDF6-F06F-90FC-23D5-FD865990D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59ABD62-5D1E-5220-2C70-55CC9112C266}"/>
              </a:ext>
            </a:extLst>
          </p:cNvPr>
          <p:cNvSpPr txBox="1">
            <a:spLocks/>
          </p:cNvSpPr>
          <p:nvPr/>
        </p:nvSpPr>
        <p:spPr>
          <a:xfrm>
            <a:off x="132303" y="970286"/>
            <a:ext cx="11927393" cy="5248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noProof="1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23A339-7E18-F555-68D5-649853BC589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77B98B7C-5908-104A-8A63-A75EDCB68EA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noProof="1"/>
              <a:t>Design &amp; Implementation</a:t>
            </a:r>
          </a:p>
        </p:txBody>
      </p:sp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2939DD29-11D4-6A2A-C9E9-31748561A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727" y="1237689"/>
            <a:ext cx="5422677" cy="1950972"/>
          </a:xfrm>
          <a:prstGeom prst="rect">
            <a:avLst/>
          </a:prstGeom>
        </p:spPr>
      </p:pic>
      <p:pic>
        <p:nvPicPr>
          <p:cNvPr id="3" name="drawing">
            <a:extLst>
              <a:ext uri="{FF2B5EF4-FFF2-40B4-BE49-F238E27FC236}">
                <a16:creationId xmlns:a16="http://schemas.microsoft.com/office/drawing/2014/main" id="{61366F94-7B74-1AE8-7B88-BDF707145D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2698" y="3779524"/>
            <a:ext cx="7926603" cy="2070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1D1FCF-F412-0DDE-005F-E6BCEC6844B0}"/>
              </a:ext>
            </a:extLst>
          </p:cNvPr>
          <p:cNvSpPr txBox="1"/>
          <p:nvPr/>
        </p:nvSpPr>
        <p:spPr>
          <a:xfrm>
            <a:off x="2964179" y="5849612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noProof="1">
                <a:effectLst/>
                <a:ea typeface="MS PMincho" panose="02020600040205080304" pitchFamily="18" charset="-128"/>
              </a:rPr>
              <a:t>FSM in Block Diagram </a:t>
            </a:r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ADCC35-2825-C7F5-80AC-F07DE27098E2}"/>
              </a:ext>
            </a:extLst>
          </p:cNvPr>
          <p:cNvSpPr txBox="1"/>
          <p:nvPr/>
        </p:nvSpPr>
        <p:spPr>
          <a:xfrm>
            <a:off x="3201245" y="3061946"/>
            <a:ext cx="626364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800" kern="100" noProof="1">
                <a:effectLst/>
                <a:ea typeface="Arial" panose="020B0604020202020204" pitchFamily="34" charset="0"/>
                <a:cs typeface="Arial" panose="020B0604020202020204" pitchFamily="34" charset="0"/>
              </a:rPr>
              <a:t>State diagram of the Mearly FSM for Product-2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3F1F3-3CB4-659B-8C39-1AA39ECF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en-US" noProof="1" smtClean="0"/>
              <a:t>4</a:t>
            </a:fld>
            <a:r>
              <a:rPr lang="en-US" noProof="1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535937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BBA52B-3A46-41B5-BD16-F20FB520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83462" cy="894303"/>
          </a:xfrm>
        </p:spPr>
        <p:txBody>
          <a:bodyPr>
            <a:normAutofit/>
          </a:bodyPr>
          <a:lstStyle/>
          <a:p>
            <a:r>
              <a:rPr lang="en-US" sz="5400" b="1" noProof="1"/>
              <a:t>Key Points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A94E8A-DEC9-4359-BB5B-69E45DE7040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Six-state Mealy FSM controls the production flow based on DONE signals.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noProof="1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The D₂, D₁ and D₀ next-state equations were minimized using Karnaugh Maps.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noProof="1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D flip-flops store the states, and outputs are generated using decoded state and input logic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6BC0ED-5285-9535-7943-782312365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en-US" noProof="1" smtClean="0"/>
              <a:t>5</a:t>
            </a:fld>
            <a:r>
              <a:rPr lang="en-US" noProof="1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854325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47C92-6890-3D95-C582-A8DF29DA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B00C435-C098-D770-59ED-AD00562B0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83462" cy="894303"/>
          </a:xfrm>
        </p:spPr>
        <p:txBody>
          <a:bodyPr>
            <a:normAutofit/>
          </a:bodyPr>
          <a:lstStyle/>
          <a:p>
            <a:r>
              <a:rPr lang="en-US" sz="5400" b="1" noProof="1"/>
              <a:t>Key Points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915B67-4DA7-4091-39D6-10E888A2128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pic>
        <p:nvPicPr>
          <p:cNvPr id="2" name="drawing">
            <a:extLst>
              <a:ext uri="{FF2B5EF4-FFF2-40B4-BE49-F238E27FC236}">
                <a16:creationId xmlns:a16="http://schemas.microsoft.com/office/drawing/2014/main" id="{366483B2-3A1F-8A8F-1BE6-E79F32D6F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8900" y="708409"/>
            <a:ext cx="6265662" cy="3012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530ABD-3D0D-80DD-833A-DBD6C631E680}"/>
              </a:ext>
            </a:extLst>
          </p:cNvPr>
          <p:cNvSpPr txBox="1"/>
          <p:nvPr/>
        </p:nvSpPr>
        <p:spPr>
          <a:xfrm>
            <a:off x="2963141" y="3572498"/>
            <a:ext cx="6265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noProof="1">
                <a:effectLst/>
                <a:ea typeface="Arial" panose="020B0604020202020204" pitchFamily="34" charset="0"/>
              </a:rPr>
              <a:t>Karnaugh Map for D2</a:t>
            </a:r>
            <a:r>
              <a:rPr lang="en-US" noProof="1">
                <a:effectLst/>
              </a:rPr>
              <a:t> 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638575E-E85C-EF8E-1D07-2BCEA6BEFC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2448970"/>
                  </p:ext>
                </p:extLst>
              </p:nvPr>
            </p:nvGraphicFramePr>
            <p:xfrm>
              <a:off x="2383483" y="3894822"/>
              <a:ext cx="7221355" cy="226739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96942">
                      <a:extLst>
                        <a:ext uri="{9D8B030D-6E8A-4147-A177-3AD203B41FA5}">
                          <a16:colId xmlns:a16="http://schemas.microsoft.com/office/drawing/2014/main" val="3965530297"/>
                        </a:ext>
                      </a:extLst>
                    </a:gridCol>
                    <a:gridCol w="794966">
                      <a:extLst>
                        <a:ext uri="{9D8B030D-6E8A-4147-A177-3AD203B41FA5}">
                          <a16:colId xmlns:a16="http://schemas.microsoft.com/office/drawing/2014/main" val="832301290"/>
                        </a:ext>
                      </a:extLst>
                    </a:gridCol>
                    <a:gridCol w="795669">
                      <a:extLst>
                        <a:ext uri="{9D8B030D-6E8A-4147-A177-3AD203B41FA5}">
                          <a16:colId xmlns:a16="http://schemas.microsoft.com/office/drawing/2014/main" val="2590351448"/>
                        </a:ext>
                      </a:extLst>
                    </a:gridCol>
                    <a:gridCol w="795669">
                      <a:extLst>
                        <a:ext uri="{9D8B030D-6E8A-4147-A177-3AD203B41FA5}">
                          <a16:colId xmlns:a16="http://schemas.microsoft.com/office/drawing/2014/main" val="2894408236"/>
                        </a:ext>
                      </a:extLst>
                    </a:gridCol>
                    <a:gridCol w="795669">
                      <a:extLst>
                        <a:ext uri="{9D8B030D-6E8A-4147-A177-3AD203B41FA5}">
                          <a16:colId xmlns:a16="http://schemas.microsoft.com/office/drawing/2014/main" val="1745321202"/>
                        </a:ext>
                      </a:extLst>
                    </a:gridCol>
                    <a:gridCol w="795669">
                      <a:extLst>
                        <a:ext uri="{9D8B030D-6E8A-4147-A177-3AD203B41FA5}">
                          <a16:colId xmlns:a16="http://schemas.microsoft.com/office/drawing/2014/main" val="370827131"/>
                        </a:ext>
                      </a:extLst>
                    </a:gridCol>
                    <a:gridCol w="795669">
                      <a:extLst>
                        <a:ext uri="{9D8B030D-6E8A-4147-A177-3AD203B41FA5}">
                          <a16:colId xmlns:a16="http://schemas.microsoft.com/office/drawing/2014/main" val="3920288757"/>
                        </a:ext>
                      </a:extLst>
                    </a:gridCol>
                    <a:gridCol w="1351102">
                      <a:extLst>
                        <a:ext uri="{9D8B030D-6E8A-4147-A177-3AD203B41FA5}">
                          <a16:colId xmlns:a16="http://schemas.microsoft.com/office/drawing/2014/main" val="1959471894"/>
                        </a:ext>
                      </a:extLst>
                    </a:gridCol>
                  </a:tblGrid>
                  <a:tr h="3568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100" noProof="1">
                              <a:effectLst/>
                            </a:rPr>
                            <a:t>Present State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 noProof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kern="100" noProof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sz="1200" kern="100" noProof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i="1" kern="100" noProof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kern="100" noProof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sz="1200" kern="100" noProof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i="1" kern="100" noProof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kern="100" noProof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sz="1200" kern="100" noProof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M1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M5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M3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M6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M7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FINISH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126024591"/>
                      </a:ext>
                    </a:extLst>
                  </a:tr>
                  <a:tr h="31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S0 (IDLE)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000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13272309"/>
                      </a:ext>
                    </a:extLst>
                  </a:tr>
                  <a:tr h="31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S1 (M1)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001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09700769"/>
                      </a:ext>
                    </a:extLst>
                  </a:tr>
                  <a:tr h="31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S2 (M5)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010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8443198"/>
                      </a:ext>
                    </a:extLst>
                  </a:tr>
                  <a:tr h="31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S3 (M3)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011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96043198"/>
                      </a:ext>
                    </a:extLst>
                  </a:tr>
                  <a:tr h="31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S4 (M6)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100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839034"/>
                      </a:ext>
                    </a:extLst>
                  </a:tr>
                  <a:tr h="31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S5 (M7)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101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D7 (DONE_M7)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821438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638575E-E85C-EF8E-1D07-2BCEA6BEFC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2448970"/>
                  </p:ext>
                </p:extLst>
              </p:nvPr>
            </p:nvGraphicFramePr>
            <p:xfrm>
              <a:off x="2383483" y="3894822"/>
              <a:ext cx="7221355" cy="226739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96942">
                      <a:extLst>
                        <a:ext uri="{9D8B030D-6E8A-4147-A177-3AD203B41FA5}">
                          <a16:colId xmlns:a16="http://schemas.microsoft.com/office/drawing/2014/main" val="3965530297"/>
                        </a:ext>
                      </a:extLst>
                    </a:gridCol>
                    <a:gridCol w="794966">
                      <a:extLst>
                        <a:ext uri="{9D8B030D-6E8A-4147-A177-3AD203B41FA5}">
                          <a16:colId xmlns:a16="http://schemas.microsoft.com/office/drawing/2014/main" val="832301290"/>
                        </a:ext>
                      </a:extLst>
                    </a:gridCol>
                    <a:gridCol w="795669">
                      <a:extLst>
                        <a:ext uri="{9D8B030D-6E8A-4147-A177-3AD203B41FA5}">
                          <a16:colId xmlns:a16="http://schemas.microsoft.com/office/drawing/2014/main" val="2590351448"/>
                        </a:ext>
                      </a:extLst>
                    </a:gridCol>
                    <a:gridCol w="795669">
                      <a:extLst>
                        <a:ext uri="{9D8B030D-6E8A-4147-A177-3AD203B41FA5}">
                          <a16:colId xmlns:a16="http://schemas.microsoft.com/office/drawing/2014/main" val="2894408236"/>
                        </a:ext>
                      </a:extLst>
                    </a:gridCol>
                    <a:gridCol w="795669">
                      <a:extLst>
                        <a:ext uri="{9D8B030D-6E8A-4147-A177-3AD203B41FA5}">
                          <a16:colId xmlns:a16="http://schemas.microsoft.com/office/drawing/2014/main" val="1745321202"/>
                        </a:ext>
                      </a:extLst>
                    </a:gridCol>
                    <a:gridCol w="795669">
                      <a:extLst>
                        <a:ext uri="{9D8B030D-6E8A-4147-A177-3AD203B41FA5}">
                          <a16:colId xmlns:a16="http://schemas.microsoft.com/office/drawing/2014/main" val="370827131"/>
                        </a:ext>
                      </a:extLst>
                    </a:gridCol>
                    <a:gridCol w="795669">
                      <a:extLst>
                        <a:ext uri="{9D8B030D-6E8A-4147-A177-3AD203B41FA5}">
                          <a16:colId xmlns:a16="http://schemas.microsoft.com/office/drawing/2014/main" val="3920288757"/>
                        </a:ext>
                      </a:extLst>
                    </a:gridCol>
                    <a:gridCol w="1351102">
                      <a:extLst>
                        <a:ext uri="{9D8B030D-6E8A-4147-A177-3AD203B41FA5}">
                          <a16:colId xmlns:a16="http://schemas.microsoft.com/office/drawing/2014/main" val="1959471894"/>
                        </a:ext>
                      </a:extLst>
                    </a:gridCol>
                  </a:tblGrid>
                  <a:tr h="3568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100" noProof="1">
                              <a:effectLst/>
                            </a:rPr>
                            <a:t>Present State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41935" t="-3571" r="-682258" b="-546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M1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M5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M3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M6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M7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FINISH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126024591"/>
                      </a:ext>
                    </a:extLst>
                  </a:tr>
                  <a:tr h="31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S0 (IDLE)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000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13272309"/>
                      </a:ext>
                    </a:extLst>
                  </a:tr>
                  <a:tr h="31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S1 (M1)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001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09700769"/>
                      </a:ext>
                    </a:extLst>
                  </a:tr>
                  <a:tr h="31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S2 (M5)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010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8443198"/>
                      </a:ext>
                    </a:extLst>
                  </a:tr>
                  <a:tr h="31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S3 (M3)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011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96043198"/>
                      </a:ext>
                    </a:extLst>
                  </a:tr>
                  <a:tr h="31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S4 (M6)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100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839034"/>
                      </a:ext>
                    </a:extLst>
                  </a:tr>
                  <a:tr h="31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S5 (M7)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101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0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1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kern="0" noProof="1">
                              <a:effectLst/>
                            </a:rPr>
                            <a:t>D7 (DONE_M7)</a:t>
                          </a:r>
                          <a:endParaRPr lang="en-US" sz="1200" kern="100" noProof="1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821438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4F94F95-3716-C147-A940-F85D4139F433}"/>
              </a:ext>
            </a:extLst>
          </p:cNvPr>
          <p:cNvSpPr txBox="1"/>
          <p:nvPr/>
        </p:nvSpPr>
        <p:spPr>
          <a:xfrm>
            <a:off x="2963141" y="6250693"/>
            <a:ext cx="6266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noProof="1">
                <a:effectLst/>
                <a:ea typeface="Arial" panose="020B0604020202020204" pitchFamily="34" charset="0"/>
              </a:rPr>
              <a:t>Output Table of the FSM (FINISH=S5.D7)</a:t>
            </a:r>
            <a:r>
              <a:rPr lang="en-US" noProof="1">
                <a:effectLst/>
              </a:rPr>
              <a:t> </a:t>
            </a:r>
            <a:endParaRPr lang="en-US" noProof="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E0DBA-7E11-6B88-8D92-6385EB102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en-US" noProof="1" smtClean="0"/>
              <a:t>6</a:t>
            </a:fld>
            <a:r>
              <a:rPr lang="en-US" noProof="1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217129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BBA52B-3A46-41B5-BD16-F20FB520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83462" cy="894303"/>
          </a:xfrm>
        </p:spPr>
        <p:txBody>
          <a:bodyPr>
            <a:normAutofit/>
          </a:bodyPr>
          <a:lstStyle/>
          <a:p>
            <a:r>
              <a:rPr lang="en-US" sz="5400" b="1" noProof="1"/>
              <a:t>Main Findings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A94E8A-DEC9-4359-BB5B-69E45DE70405}"/>
              </a:ext>
            </a:extLst>
          </p:cNvPr>
          <p:cNvSpPr txBox="1">
            <a:spLocks/>
          </p:cNvSpPr>
          <p:nvPr/>
        </p:nvSpPr>
        <p:spPr>
          <a:xfrm>
            <a:off x="838199" y="1836668"/>
            <a:ext cx="10515600" cy="50194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har char="•"/>
            </a:pPr>
            <a:r>
              <a:rPr lang="en-US" sz="2800" noProof="1">
                <a:solidFill>
                  <a:schemeClr val="tx1"/>
                </a:solidFill>
                <a:ea typeface="+mn-lt"/>
                <a:cs typeface="+mn-lt"/>
              </a:rPr>
              <a:t>For the FSM, the production and state transitions are correct.</a:t>
            </a:r>
            <a:endParaRPr lang="en-US" noProof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endParaRPr lang="en-US" noProof="1"/>
          </a:p>
          <a:p>
            <a:pPr marL="457200" indent="-457200">
              <a:buChar char="•"/>
            </a:pPr>
            <a:r>
              <a:rPr lang="en-US" sz="2800" noProof="1">
                <a:solidFill>
                  <a:schemeClr val="tx1"/>
                </a:solidFill>
                <a:ea typeface="+mn-lt"/>
                <a:cs typeface="+mn-lt"/>
              </a:rPr>
              <a:t>Output signals are the expected states, showing that control logic is correct.</a:t>
            </a:r>
            <a:endParaRPr lang="en-US" noProof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endParaRPr lang="en-US" noProof="1"/>
          </a:p>
          <a:p>
            <a:pPr marL="457200" indent="-457200">
              <a:buChar char="•"/>
            </a:pPr>
            <a:r>
              <a:rPr lang="en-US" sz="2800" noProof="1">
                <a:solidFill>
                  <a:schemeClr val="tx1"/>
                </a:solidFill>
                <a:ea typeface="+mn-lt"/>
                <a:cs typeface="+mn-lt"/>
              </a:rPr>
              <a:t>This unit-to-clock mapping may lead to timing disagreement, but preserves the correct functional behavior.</a:t>
            </a:r>
            <a:endParaRPr lang="en-US" noProof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A3668A-D47A-3A67-76B1-B8E804EB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en-US" noProof="1" smtClean="0"/>
              <a:t>7</a:t>
            </a:fld>
            <a:r>
              <a:rPr lang="en-US" noProof="1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647327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9D036-4808-C647-FD10-5969E3E29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DCCCF2-B12D-D08B-A461-FC7B7DBF9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83462" cy="894303"/>
          </a:xfrm>
        </p:spPr>
        <p:txBody>
          <a:bodyPr>
            <a:normAutofit/>
          </a:bodyPr>
          <a:lstStyle/>
          <a:p>
            <a:r>
              <a:rPr lang="en-US" sz="5400" b="1" noProof="1"/>
              <a:t>Main Findings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2682AF-91DB-5AD6-C244-80796BE407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1681D7-33EF-5A65-00B3-82302863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en-US" noProof="1" smtClean="0"/>
              <a:t>8</a:t>
            </a:fld>
            <a:r>
              <a:rPr lang="en-US" noProof="1"/>
              <a:t>/11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877CB0-53F4-BA38-3BC8-1E447BA75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7" r="6805"/>
          <a:stretch>
            <a:fillRect/>
          </a:stretch>
        </p:blipFill>
        <p:spPr>
          <a:xfrm>
            <a:off x="3345095" y="3677858"/>
            <a:ext cx="5501810" cy="2814533"/>
          </a:xfrm>
          <a:prstGeom prst="rect">
            <a:avLst/>
          </a:prstGeom>
        </p:spPr>
      </p:pic>
      <p:pic>
        <p:nvPicPr>
          <p:cNvPr id="13" name="Picture 12" descr="A diagram of a computer&#10;&#10;AI-generated content may be incorrect.">
            <a:extLst>
              <a:ext uri="{FF2B5EF4-FFF2-40B4-BE49-F238E27FC236}">
                <a16:creationId xmlns:a16="http://schemas.microsoft.com/office/drawing/2014/main" id="{4DBA42B1-C1ED-5B95-C0BD-28FE5F53DA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26"/>
          <a:stretch>
            <a:fillRect/>
          </a:stretch>
        </p:blipFill>
        <p:spPr>
          <a:xfrm>
            <a:off x="2094244" y="823690"/>
            <a:ext cx="7772400" cy="26673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92C244C-4A25-9945-DD58-DDAE07248469}"/>
              </a:ext>
            </a:extLst>
          </p:cNvPr>
          <p:cNvSpPr txBox="1"/>
          <p:nvPr/>
        </p:nvSpPr>
        <p:spPr>
          <a:xfrm>
            <a:off x="2963141" y="3290920"/>
            <a:ext cx="6265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noProof="1"/>
              <a:t>Overall Simulink system implementation</a:t>
            </a:r>
            <a:r>
              <a:rPr lang="en-US" noProof="1">
                <a:effectLst/>
              </a:rPr>
              <a:t> </a:t>
            </a:r>
            <a:endParaRPr lang="en-US" noProof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A2B52B-6A40-4DF6-697A-998ABB110202}"/>
              </a:ext>
            </a:extLst>
          </p:cNvPr>
          <p:cNvSpPr txBox="1"/>
          <p:nvPr/>
        </p:nvSpPr>
        <p:spPr>
          <a:xfrm>
            <a:off x="2963141" y="6422267"/>
            <a:ext cx="6265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noProof="1">
                <a:effectLst/>
                <a:ea typeface="Arial" panose="020B0604020202020204" pitchFamily="34" charset="0"/>
              </a:rPr>
              <a:t>Stateflow FSM for sequential control</a:t>
            </a: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44973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16DBD-EAA9-74CB-3CB0-05EC7B35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047F08-5DD3-7723-13F5-38234D33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83462" cy="894303"/>
          </a:xfrm>
        </p:spPr>
        <p:txBody>
          <a:bodyPr>
            <a:normAutofit/>
          </a:bodyPr>
          <a:lstStyle/>
          <a:p>
            <a:r>
              <a:rPr lang="en-US" sz="5400" b="1" noProof="1"/>
              <a:t>Main Findings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FA7DE2-700D-9540-CF33-0621051CE15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13D3B7-5912-5EEA-875D-F8454F6A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en-US" noProof="1" smtClean="0"/>
              <a:t>9</a:t>
            </a:fld>
            <a:r>
              <a:rPr lang="en-US" noProof="1"/>
              <a:t>/11</a:t>
            </a:r>
          </a:p>
        </p:txBody>
      </p:sp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2B30121F-5D91-904D-75F5-788AC1BAF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12" t="21389" r="6645" b="4936"/>
          <a:stretch>
            <a:fillRect/>
          </a:stretch>
        </p:blipFill>
        <p:spPr>
          <a:xfrm>
            <a:off x="7276779" y="3417063"/>
            <a:ext cx="4006683" cy="2567874"/>
          </a:xfrm>
          <a:prstGeom prst="rect">
            <a:avLst/>
          </a:prstGeom>
        </p:spPr>
      </p:pic>
      <p:pic>
        <p:nvPicPr>
          <p:cNvPr id="9" name="Picture 8" descr="A diagram of a computer&#10;&#10;AI-generated content may be incorrect.">
            <a:extLst>
              <a:ext uri="{FF2B5EF4-FFF2-40B4-BE49-F238E27FC236}">
                <a16:creationId xmlns:a16="http://schemas.microsoft.com/office/drawing/2014/main" id="{8CA87E27-D836-4AC8-60C6-E7E6F9A96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6" t="12356" r="11509"/>
          <a:stretch>
            <a:fillRect/>
          </a:stretch>
        </p:blipFill>
        <p:spPr>
          <a:xfrm>
            <a:off x="6897756" y="6415"/>
            <a:ext cx="3699883" cy="32611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4CF8DA-4AD3-E6AB-F98E-DDE4BB295E9F}"/>
              </a:ext>
            </a:extLst>
          </p:cNvPr>
          <p:cNvSpPr txBox="1"/>
          <p:nvPr/>
        </p:nvSpPr>
        <p:spPr>
          <a:xfrm>
            <a:off x="5989218" y="5949799"/>
            <a:ext cx="6265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noProof="1"/>
              <a:t>DONE_M1 machine control logic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C36D1-C21C-2886-F094-EBDCE53F1449}"/>
              </a:ext>
            </a:extLst>
          </p:cNvPr>
          <p:cNvSpPr txBox="1"/>
          <p:nvPr/>
        </p:nvSpPr>
        <p:spPr>
          <a:xfrm>
            <a:off x="5926282" y="3120088"/>
            <a:ext cx="6265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noProof="1"/>
              <a:t>M6 function and state logic implementation</a:t>
            </a:r>
          </a:p>
        </p:txBody>
      </p:sp>
      <p:pic>
        <p:nvPicPr>
          <p:cNvPr id="14" name="Picture 13" descr="A black screen with lines&#10;&#10;AI-generated content may be incorrect.">
            <a:extLst>
              <a:ext uri="{FF2B5EF4-FFF2-40B4-BE49-F238E27FC236}">
                <a16:creationId xmlns:a16="http://schemas.microsoft.com/office/drawing/2014/main" id="{3DA533FE-F4B2-AC4D-57C6-D441C2F28E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3" y="1858654"/>
            <a:ext cx="6265718" cy="31406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F80E95-F129-343E-06B4-23EFF5A3406A}"/>
              </a:ext>
            </a:extLst>
          </p:cNvPr>
          <p:cNvSpPr txBox="1"/>
          <p:nvPr/>
        </p:nvSpPr>
        <p:spPr>
          <a:xfrm>
            <a:off x="102523" y="5057952"/>
            <a:ext cx="6265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noProof="1"/>
              <a:t>Logic Analyzer - FSM State Transitions</a:t>
            </a:r>
          </a:p>
        </p:txBody>
      </p:sp>
    </p:spTree>
    <p:extLst>
      <p:ext uri="{BB962C8B-B14F-4D97-AF65-F5344CB8AC3E}">
        <p14:creationId xmlns:p14="http://schemas.microsoft.com/office/powerpoint/2010/main" val="2230957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BBA52B-3A46-41B5-BD16-F20FB520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83462" cy="894303"/>
          </a:xfrm>
        </p:spPr>
        <p:txBody>
          <a:bodyPr>
            <a:normAutofit/>
          </a:bodyPr>
          <a:lstStyle/>
          <a:p>
            <a:r>
              <a:rPr lang="en-US" sz="5400" b="1" noProof="1"/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A94E8A-DEC9-4359-BB5B-69E45DE70405}"/>
              </a:ext>
            </a:extLst>
          </p:cNvPr>
          <p:cNvSpPr txBox="1">
            <a:spLocks/>
          </p:cNvSpPr>
          <p:nvPr/>
        </p:nvSpPr>
        <p:spPr>
          <a:xfrm>
            <a:off x="456362" y="1242820"/>
            <a:ext cx="10137297" cy="46455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A complete FSM-based production control system is modeled, verified and simulated in the Simulink environment.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noProof="1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The Mealy FSM structure and minimized logic enabled reliable state transitions.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noProof="1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Modular machine timers are convenient for extending to new products or stages in production.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noProof="1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noProof="1">
                <a:solidFill>
                  <a:schemeClr val="tx1"/>
                </a:solidFill>
              </a:rPr>
              <a:t>This design provides a strong foundation for future extensions such as additional machines or performance optimization.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82" y="0"/>
            <a:ext cx="1416818" cy="14168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901223-2B6E-590D-18B3-913E4EBD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en-US" noProof="1" smtClean="0"/>
              <a:t>10</a:t>
            </a:fld>
            <a:r>
              <a:rPr lang="en-US" noProof="1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928150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D9BD-3DB4-4A1A-A7E4-BF71A4BE2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1"/>
              <a:t>References</a:t>
            </a:r>
            <a:endParaRPr lang="en-US" noProof="1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2E1BC-76AF-4709-80B9-7ADEE2D16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noProof="1"/>
              <a:t>  [1] </a:t>
            </a:r>
            <a:r>
              <a:rPr lang="en-US" noProof="1">
                <a:ea typeface="+mn-lt"/>
                <a:cs typeface="+mn-lt"/>
              </a:rPr>
              <a:t>Mano, M. Morris, and Michael D. Ciletti. </a:t>
            </a:r>
            <a:r>
              <a:rPr lang="en-US" i="1" noProof="1">
                <a:ea typeface="+mn-lt"/>
                <a:cs typeface="+mn-lt"/>
              </a:rPr>
              <a:t>Digital Design</a:t>
            </a:r>
            <a:r>
              <a:rPr lang="en-US" noProof="1">
                <a:ea typeface="+mn-lt"/>
                <a:cs typeface="+mn-lt"/>
              </a:rPr>
              <a:t>. 4th ed., Prentice Hall International, 2007.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noProof="1">
                <a:ea typeface="+mn-lt"/>
                <a:cs typeface="+mn-lt"/>
              </a:rPr>
              <a:t>  [2] Vahid, Frank. </a:t>
            </a:r>
            <a:r>
              <a:rPr lang="en-US" i="1" noProof="1">
                <a:ea typeface="+mn-lt"/>
                <a:cs typeface="+mn-lt"/>
              </a:rPr>
              <a:t>Digital Design with RTL Design, VHDL &amp; Verilog</a:t>
            </a:r>
            <a:r>
              <a:rPr lang="en-US" noProof="1">
                <a:ea typeface="+mn-lt"/>
                <a:cs typeface="+mn-lt"/>
              </a:rPr>
              <a:t>. 2nd ed., Wiley, 2011.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noProof="1">
                <a:ea typeface="+mn-lt"/>
                <a:cs typeface="+mn-lt"/>
              </a:rPr>
              <a:t>  [3] Arsan, Taner, and Rifat Çölkesen. </a:t>
            </a:r>
            <a:r>
              <a:rPr lang="en-US" i="1" noProof="1">
                <a:ea typeface="+mn-lt"/>
                <a:cs typeface="+mn-lt"/>
              </a:rPr>
              <a:t>Lojik Devre Tasarımı</a:t>
            </a:r>
            <a:r>
              <a:rPr lang="en-US" noProof="1">
                <a:ea typeface="+mn-lt"/>
                <a:cs typeface="+mn-lt"/>
              </a:rPr>
              <a:t>. 4. baskı, Papatya Yayıncılık, 2007.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542925" indent="-542925">
              <a:buNone/>
            </a:pPr>
            <a:endParaRPr lang="en-US" noProof="1">
              <a:ea typeface="Calibri"/>
              <a:cs typeface="Calibri"/>
            </a:endParaRPr>
          </a:p>
          <a:p>
            <a:pPr marL="0" indent="0">
              <a:buNone/>
            </a:pPr>
            <a:endParaRPr lang="en-US" noProof="1"/>
          </a:p>
          <a:p>
            <a:endParaRPr lang="en-US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90B41-1FBB-7DA4-06E4-2529992C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en-US" noProof="1" smtClean="0"/>
              <a:t>11</a:t>
            </a:fld>
            <a:r>
              <a:rPr lang="en-US" noProof="1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765544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Microsoft Macintosh PowerPoint</Application>
  <PresentationFormat>Geniş ekran</PresentationFormat>
  <Paragraphs>136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8" baseType="lpstr">
      <vt:lpstr>MS PMincho</vt:lpstr>
      <vt:lpstr>-apple-system</vt:lpstr>
      <vt:lpstr>Arial</vt:lpstr>
      <vt:lpstr>Calibri</vt:lpstr>
      <vt:lpstr>Calibri Light</vt:lpstr>
      <vt:lpstr>Cambria Math</vt:lpstr>
      <vt:lpstr>Office Theme</vt:lpstr>
      <vt:lpstr>Finite State Machine-Based Factory Production Control </vt:lpstr>
      <vt:lpstr>Project Goals</vt:lpstr>
      <vt:lpstr>PowerPoint Sunusu</vt:lpstr>
      <vt:lpstr>PowerPoint Sunusu</vt:lpstr>
      <vt:lpstr>Key Points</vt:lpstr>
      <vt:lpstr>Key Points</vt:lpstr>
      <vt:lpstr>Main Findings</vt:lpstr>
      <vt:lpstr>Main Findings</vt:lpstr>
      <vt:lpstr>Main Findings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Bankrupcy Classification</dc:title>
  <dc:creator>arsan@khas.edu.tr</dc:creator>
  <cp:lastModifiedBy>Şimal Ersuz</cp:lastModifiedBy>
  <cp:revision>3</cp:revision>
  <dcterms:created xsi:type="dcterms:W3CDTF">2019-05-26T13:34:01Z</dcterms:created>
  <dcterms:modified xsi:type="dcterms:W3CDTF">2026-01-07T18:38:23Z</dcterms:modified>
</cp:coreProperties>
</file>